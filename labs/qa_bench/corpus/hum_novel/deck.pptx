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600000"/>
            <a:ext cx="10992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22222"/>
                </a:solidFill>
              </a:rPr>
              <a:t>조선 후기 한글 소설은 어떻게 퍼졌나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140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필사본보다 중요한 세책 문화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193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한국문학사 2조 |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600000"/>
            <a:ext cx="10992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22222"/>
                </a:solidFill>
              </a:rPr>
              <a:t>여러분은 춘향전을 끝까지 읽어 본 적 있나요?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1400000"/>
            <a:ext cx="3564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22222"/>
                </a:solidFill>
              </a:rPr>
              <a:t>① 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64000" y="1400000"/>
            <a:ext cx="3564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22222"/>
                </a:solidFill>
              </a:rPr>
              <a:t>② 없다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28000" y="1400000"/>
            <a:ext cx="3564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22222"/>
                </a:solidFill>
              </a:rPr>
              <a:t>③ 줄거리만 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92000" y="6358000"/>
            <a:ext cx="1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88888"/>
                </a:solidFill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600000"/>
            <a:ext cx="10992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22222"/>
                </a:solidFill>
              </a:rPr>
              <a:t>시대 배경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140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상업 발달이 한글 소설 독자층을 넓혔습니다.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193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장시와 포구를 따라 사람과 물건이 오갔습니다.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92000" y="6358000"/>
            <a:ext cx="1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88888"/>
                </a:solidFill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600000"/>
            <a:ext cx="10992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22222"/>
                </a:solidFill>
              </a:rPr>
              <a:t>세책 문화란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1400000"/>
            <a:ext cx="1832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22222"/>
                </a:solidFill>
              </a:rPr>
              <a:t>세책 문화 =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32000" y="1400000"/>
            <a:ext cx="1832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222222"/>
                </a:solidFill>
              </a:rPr>
              <a:t>필사본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64000" y="1400000"/>
            <a:ext cx="1832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222222"/>
                </a:solidFill>
              </a:rPr>
              <a:t>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0" y="1400000"/>
            <a:ext cx="1832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222222"/>
                </a:solidFill>
              </a:rPr>
              <a:t>대여 제도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8000" y="1400000"/>
            <a:ext cx="1832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222222"/>
                </a:solidFill>
              </a:rPr>
              <a:t>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60000" y="1400000"/>
            <a:ext cx="1832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222222"/>
                </a:solidFill>
              </a:rPr>
              <a:t>여성 독자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0000" y="210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222222"/>
                </a:solidFill>
              </a:rPr>
              <a:t>책을 베껴 쓰고, 돈을 받고 빌려주고, 규방에서 돌려 읽었다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92000" y="6358000"/>
            <a:ext cx="1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88888"/>
                </a:solidFill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600000"/>
            <a:ext cx="10992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22222"/>
                </a:solidFill>
              </a:rPr>
              <a:t>방각본과의 비교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00000" y="1400000"/>
          <a:ext cx="10992000" cy="11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4000"/>
                <a:gridCol w="3664000"/>
                <a:gridCol w="3664000"/>
              </a:tblGrid>
              <a:tr h="380000">
                <a:tc>
                  <a:txBody>
                    <a:bodyPr/>
                    <a:lstStyle/>
                    <a:p>
                      <a:r>
                        <a:rPr sz="1400"/>
                        <a:t>구분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세책본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방각본</a:t>
                      </a:r>
                    </a:p>
                  </a:txBody>
                  <a:tcPr/>
                </a:tc>
              </a:tr>
              <a:tr h="380000">
                <a:tc>
                  <a:txBody>
                    <a:bodyPr/>
                    <a:lstStyle/>
                    <a:p>
                      <a:r>
                        <a:rPr sz="1400"/>
                        <a:t>제작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손으로 필사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목판 인쇄</a:t>
                      </a:r>
                    </a:p>
                  </a:txBody>
                  <a:tcPr/>
                </a:tc>
              </a:tr>
              <a:tr h="380000">
                <a:tc>
                  <a:txBody>
                    <a:bodyPr/>
                    <a:lstStyle/>
                    <a:p>
                      <a:r>
                        <a:rPr sz="1400"/>
                        <a:t>분량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수십 권 장편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20~30장 축약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00000" y="269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222222"/>
                </a:solidFill>
              </a:rPr>
              <a:t>일부 연구자는 방각본이 더 큰 역할을 했다고 보기도 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92000" y="6358000"/>
            <a:ext cx="1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88888"/>
                </a:solidFill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600000"/>
            <a:ext cx="10992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22222"/>
                </a:solidFill>
              </a:rPr>
              <a:t>서사의 특징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140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한글 소설은 항상 권선징악으로 끝납니다.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193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주인공의 고난 → 조력자 → 신분 회복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92000" y="6358000"/>
            <a:ext cx="1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88888"/>
                </a:solidFill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600000"/>
            <a:ext cx="10992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22222"/>
                </a:solidFill>
              </a:rPr>
              <a:t>우리 조의 결론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1400000"/>
            <a:ext cx="10992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소설을 퍼뜨린 것은 작가가 아니라 빌려 읽는 독자였다.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92000" y="6358000"/>
            <a:ext cx="1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88888"/>
                </a:solidFill>
              </a:rPr>
              <a:t>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