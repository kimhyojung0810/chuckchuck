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 녹음용 대본
안녕하세요. 오늘은 스마트폰 알림 하나가 왜 우리의 집중을 크게 방해하는지 이야기해보겠습니다. 우리는 보통 알림을 잠깐 확인하는 정도는 별문제 아니라고 생각합니다. 하지만 실제로는 그 잠깐의 행동 뒤에 더 큰 집중 손실이 따라옵니다. 오늘 발표에서는 알림이 집중을 끊는 과정을 살펴보고, 왜 다시 집중하기가 어려운지, 그리고 어떤 방식으로 환경을 바꾸면 좋을지 정리해보겠습니다.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2 녹음용 대본
많은 사람들은 알림을 잠깐 보는 정도는 큰 문제가 아니라고 생각합니다. 예를 들어 메시지를 5초 정도 확인하면 그냥 5초만 손해 본 것처럼 느껴집니다. 그런데 실제로는 그 이후에 다시 원래 작업으로 돌아오는 데 시간이 더 걸립니다. 그래서 알림의 문제는 단순히 화면을 본 시간이 아니라, 우리가 하던 일의 흐름을 끊는다는 점에 있습니다.
의도적 누락 포인트: 목표·맥락·다음 단계가 각각 어떻게 손실되는지 자세히 설명하지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3 녹음용 대본
집중은 단순히 화면을 보고 있는 상태가 아닙니다. 집중한다는 것은 지금 하고 있는 일의 목표와 순서가 머릿속에 올라와 있는 상태입니다. 예를 들어 글을 쓰고 있다면 지금 어떤 문장을 쓰고 있었는지, 다음에는 무엇을 말해야 하는지 기억하고 있어야 합니다. 알림은 이 상태를 잠깐 흔들고, 그래서 다시 돌아왔을 때 바로 이어서 하기가 어려워집니다.
의도적 누락 포인트: working memory, task set, cognitive resources라는 개념을 직접 설명하지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4 녹음용 대본
알림이 집중을 끊는 과정은 크게 네 단계로 볼 수 있습니다. 먼저 알림이 오고, 우리는 그 알림에 주의를 빼앗깁니다. 그다음 스마트폰을 확인하거나, 확인하지 않더라도 신경이 그쪽으로 이동합니다. 그러면 원래 하던 일과 스마트폰 사이에서 과제가 바뀌게 됩니다. 마지막으로 다시 원래 일로 돌아와야 하는데, 이 복구 과정에서 생각보다 많은 시간이 필요합니다.
의도적 누락 포인트: ‘주의 포획’과 ‘과제 전환’의 차이를 충분히 설명하지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5 녹음용 대본
실제로 알림이 집중을 방해한다는 연구도 있습니다. 한 연구에서는 사람들이 주의가 필요한 과제를 수행하는 동안 휴대폰 알림을 받게 했습니다. 그 결과 알림을 받은 사람들은 과제 수행이 더 나빠졌습니다. 이 연구는 우리가 알림을 확인하지 않아도 알림 자체가 집중에 영향을 줄 수 있다는 점을 보여줍니다.
의도적 누락 포인트: ‘과제와 무관한 생각’이 왜 생기는지, 그리고 확인하지 않아도 방해되는 메커니즘을 깊게 설명하지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6 녹음용 대본
또 다른 연구는 스마트폰을 책상 위, 가방이나 주머니, 다른 방에 두는 조건을 비교했습니다. 결과적으로 스마트폰이 더 멀리 있을 때 인지 과제 수행이 더 좋게 나타났습니다. 즉, 스마트폰은 알림이 오지 않아도 우리에게 영향을 줄 수 있습니다. 그래서 집중하고 싶다면 단순히 무음으로 두는 것보다 시야 밖이나 다른 공간에 두는 것이 더 좋을 수 있습니다.
의도적 누락 포인트: ‘보이는 스마트폰을 억제하려는 노력’이 제한된 인지 자원을 차지한다는 설명을 충분히 풀지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7 녹음용 대본
우리가 다시 집중하기 어려운 이유는 작업을 바꿀 때 바로 이전 상태로 돌아가기 어렵기 때문입니다. 예를 들어 보고서를 쓰다가 메시지를 확인하고 다시 돌아오면, 보고서의 흐름을 다시 떠올려야 합니다. 이런 전환 과정 때문에 집중이 끊기고, 체감상 다시 시작하는 느낌이 들 수 있습니다.
의도적 누락 포인트: attention residue라는 용어와 ‘이전 작업의 생각이 남아 다음 수행을 방해한다’는 정의를 명확히 말하지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8 녹음용 대본
결국 스마트폰 알림의 손실은 시간보다 흐름에서 더 크게 나타납니다. 알림을 보는 데 걸린 시간은 짧을 수 있습니다. 하지만 다시 원래 작업으로 돌아와서 어디까지 했는지, 무엇을 하려 했는지 떠올리는 과정이 필요합니다. 그래서 알림을 자주 확인하면 짧은 시간들이 쌓이는 것보다, 작업의 흐름이 계속 끊기는 문제가 더 커집니다.
의도적 누락 포인트: ‘시간 손실’과 ‘맥락 복구 비용’의 차이를 예시로만 말하고, 측정 가능한 구조로 깊게 설명하지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9 녹음용 대본
그렇다면 해결책은 무엇일까요? 단순히 더 참자는 방식은 오래가기 어렵습니다. 대신 알림이 자주 들어오지 않도록 환경을 바꾸는 편이 더 현실적입니다. 꼭 필요한 앱만 알림을 켜고, 나머지는 묶어서 확인하는 방식이 좋습니다. 또 집중이 필요한 시간에는 스마트폰을 책상 위에 두지 않는 것도 도움이 됩니다.
의도적 누락 포인트: 왜 ‘환경 설계’가 개인 의지보다 안정적인지 근거와 연결하지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10 녹음용 대본
실제로 적용할 수 있는 방법은 어렵지 않습니다. 작업을 시작하기 전에는 스마트폰을 시야 밖에 두고 알림을 줄입니다. 집중하는 동안에는 메신저나 메일처럼 주의를 끌 수 있는 창을 닫습니다. 그리고 작업을 멈춰야 한다면 다음에 무엇을 할지 한 줄만 적어둡니다. 이렇게 하면 다시 돌아왔을 때 흐름을 찾기가 조금 더 쉬워집니다.
의도적 누락 포인트: ‘전환 전 한 줄 메모’가 attention residue를 줄이는 방식과 연결하지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11 녹음용 대본
정리하면 스마트폰 알림은 단순히 시간을 조금 빼앗는 문제가 아닙니다. 알림은 확인하지 않아도 우리의 주의를 끌 수 있고, 스마트폰이 가까이 있다는 사실만으로도 영향을 줄 수 있습니다. 그래서 중요한 일을 할 때는 알림을 줄이고, 스마트폰을 멀리 두고, 작업을 전환할 때는 다시 돌아올 수 있게 작은 기록을 남기는 것이 좋습니다.
의도적 누락 포인트: ‘작업 맥락 복구’의 구체적인 과정과 앞선 연구 3개의 연결을 압축해서 말함.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12 녹음용 대본
마지막으로 오늘 발표에서 활용한 주요 연구들입니다. 스마트폰 알림, 스마트폰의 존재 자체, 과제 전환과 주의 잔여물, 그리고 슬라이드와 발화를 연결해 설명 누락을 찾는 연구를 참고했습니다. 이상으로 발표를 마치겠습니다.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0E8"/>
        </a:solidFill>
      </p:bgPr>
    </p:bg>
    <p:spTree>
      <p:nvGrpSpPr>
        <p:cNvPr id="1" name=""/>
        <p:cNvGrpSpPr/>
        <p:nvPr/>
      </p:nvGrpSpPr>
      <p:grpSpPr>
        <a:xfrm>
          <a:off x="0" y="0"/>
          <a:ext cx="0" cy="0"/>
          <a:chOff x="0" y="0"/>
          <a:chExt cx="0" cy="0"/>
        </a:xfrm>
      </p:grpSpPr>
      <p:pic>
        <p:nvPicPr>
          <p:cNvPr id="2" name="Image 0" descr="/mnt/data/a_clean_minimal_softly_textured_illustration_pai.png">    </p:cNvPr>
          <p:cNvPicPr>
            <a:picLocks noChangeAspect="1"/>
          </p:cNvPicPr>
          <p:nvPr/>
        </p:nvPicPr>
        <p:blipFill>
          <a:blip r:embed="rId1"/>
          <a:srcRect l="27000" r="19121" t="0" b="0"/>
          <a:stretch/>
        </p:blipFill>
        <p:spPr>
          <a:xfrm>
            <a:off x="5623560" y="0"/>
            <a:ext cx="6565392" cy="6858000"/>
          </a:xfrm>
          <a:prstGeom prst="rect">
            <a:avLst/>
          </a:prstGeom>
        </p:spPr>
      </p:pic>
      <p:sp>
        <p:nvSpPr>
          <p:cNvPr id="3" name="Shape 0"/>
          <p:cNvSpPr/>
          <p:nvPr/>
        </p:nvSpPr>
        <p:spPr>
          <a:xfrm>
            <a:off x="713232" y="658368"/>
            <a:ext cx="2286000" cy="292608"/>
          </a:xfrm>
          <a:prstGeom prst="roundRect">
            <a:avLst>
              <a:gd name="adj" fmla="val 43750"/>
            </a:avLst>
          </a:prstGeom>
          <a:solidFill>
            <a:srgbClr val="E6EDFF"/>
          </a:solidFill>
          <a:ln w="12700">
            <a:solidFill>
              <a:srgbClr val="E6EDFF">
                <a:alpha val="0"/>
              </a:srgbClr>
            </a:solidFill>
            <a:prstDash val="solid"/>
          </a:ln>
        </p:spPr>
      </p:sp>
      <p:sp>
        <p:nvSpPr>
          <p:cNvPr id="4" name="Text 1"/>
          <p:cNvSpPr/>
          <p:nvPr/>
        </p:nvSpPr>
        <p:spPr>
          <a:xfrm>
            <a:off x="822960" y="722376"/>
            <a:ext cx="2066544" cy="128016"/>
          </a:xfrm>
          <a:prstGeom prst="rect">
            <a:avLst/>
          </a:prstGeom>
          <a:noFill/>
          <a:ln/>
        </p:spPr>
        <p:txBody>
          <a:bodyPr wrap="square" lIns="0" tIns="0" rIns="0" bIns="0" rtlCol="0" anchor="ctr">
            <a:normAutofit/>
          </a:bodyPr>
          <a:lstStyle/>
          <a:p>
            <a:pPr algn="ctr" indent="0" marL="0">
              <a:buNone/>
            </a:pPr>
            <a:r>
              <a:rPr lang="en-US" sz="750" b="1" dirty="0">
                <a:solidFill>
                  <a:srgbClr val="235CFF"/>
                </a:solidFill>
                <a:latin typeface="Noto Sans CJK KR" pitchFamily="34" charset="0"/>
                <a:ea typeface="Noto Sans CJK KR" pitchFamily="34" charset="-122"/>
                <a:cs typeface="Noto Sans CJK KR" pitchFamily="34" charset="-120"/>
              </a:rPr>
              <a:t>척척발표 데모용 10분 발표</a:t>
            </a:r>
            <a:endParaRPr lang="en-US" sz="750" dirty="0"/>
          </a:p>
        </p:txBody>
      </p:sp>
      <p:sp>
        <p:nvSpPr>
          <p:cNvPr id="5" name="Text 2"/>
          <p:cNvSpPr/>
          <p:nvPr/>
        </p:nvSpPr>
        <p:spPr>
          <a:xfrm>
            <a:off x="713232" y="1353312"/>
            <a:ext cx="4572000" cy="1143000"/>
          </a:xfrm>
          <a:prstGeom prst="rect">
            <a:avLst/>
          </a:prstGeom>
          <a:noFill/>
          <a:ln/>
        </p:spPr>
        <p:txBody>
          <a:bodyPr wrap="square" lIns="0" tIns="0" rIns="0" bIns="0" rtlCol="0" anchor="ctr">
            <a:normAutofit/>
          </a:bodyPr>
          <a:lstStyle/>
          <a:p>
            <a:pPr algn="l" indent="0" marL="0">
              <a:buNone/>
            </a:pPr>
            <a:r>
              <a:rPr lang="en-US" sz="3900" b="1" dirty="0">
                <a:solidFill>
                  <a:srgbClr val="151C26"/>
                </a:solidFill>
                <a:latin typeface="Noto Sans CJK KR" pitchFamily="34" charset="0"/>
                <a:ea typeface="Noto Sans CJK KR" pitchFamily="34" charset="-122"/>
                <a:cs typeface="Noto Sans CJK KR" pitchFamily="34" charset="-120"/>
              </a:rPr>
              <a:t>알림 하나를</a:t>
            </a:r>
            <a:endParaRPr lang="en-US" sz="3900" dirty="0"/>
          </a:p>
          <a:p>
            <a:pPr algn="l" indent="0" marL="0">
              <a:buNone/>
            </a:pPr>
            <a:r>
              <a:rPr lang="en-US" sz="3900" b="1" dirty="0">
                <a:solidFill>
                  <a:srgbClr val="151C26"/>
                </a:solidFill>
                <a:latin typeface="Noto Sans CJK KR" pitchFamily="34" charset="0"/>
                <a:ea typeface="Noto Sans CJK KR" pitchFamily="34" charset="-122"/>
                <a:cs typeface="Noto Sans CJK KR" pitchFamily="34" charset="-120"/>
              </a:rPr>
              <a:t>확인했을 뿐인데,</a:t>
            </a:r>
            <a:endParaRPr lang="en-US" sz="3900" dirty="0"/>
          </a:p>
        </p:txBody>
      </p:sp>
      <p:sp>
        <p:nvSpPr>
          <p:cNvPr id="6" name="Text 3"/>
          <p:cNvSpPr/>
          <p:nvPr/>
        </p:nvSpPr>
        <p:spPr>
          <a:xfrm>
            <a:off x="713232" y="2615184"/>
            <a:ext cx="4572000" cy="1143000"/>
          </a:xfrm>
          <a:prstGeom prst="rect">
            <a:avLst/>
          </a:prstGeom>
          <a:noFill/>
          <a:ln/>
        </p:spPr>
        <p:txBody>
          <a:bodyPr wrap="square" lIns="0" tIns="0" rIns="0" bIns="0" rtlCol="0" anchor="ctr">
            <a:normAutofit/>
          </a:bodyPr>
          <a:lstStyle/>
          <a:p>
            <a:pPr algn="l" indent="0" marL="0">
              <a:buNone/>
            </a:pPr>
            <a:r>
              <a:rPr lang="en-US" sz="4000" b="1" dirty="0">
                <a:solidFill>
                  <a:srgbClr val="151C26"/>
                </a:solidFill>
                <a:latin typeface="Noto Sans CJK KR" pitchFamily="34" charset="0"/>
                <a:ea typeface="Noto Sans CJK KR" pitchFamily="34" charset="-122"/>
                <a:cs typeface="Noto Sans CJK KR" pitchFamily="34" charset="-120"/>
              </a:rPr>
              <a:t>왜 다시 집중하기</a:t>
            </a:r>
            <a:endParaRPr lang="en-US" sz="4000" dirty="0"/>
          </a:p>
          <a:p>
            <a:pPr algn="l" indent="0" marL="0">
              <a:buNone/>
            </a:pPr>
            <a:r>
              <a:rPr lang="en-US" sz="4000" b="1" dirty="0">
                <a:solidFill>
                  <a:srgbClr val="151C26"/>
                </a:solidFill>
                <a:latin typeface="Noto Sans CJK KR" pitchFamily="34" charset="0"/>
                <a:ea typeface="Noto Sans CJK KR" pitchFamily="34" charset="-122"/>
                <a:cs typeface="Noto Sans CJK KR" pitchFamily="34" charset="-120"/>
              </a:rPr>
              <a:t>어려울까?</a:t>
            </a:r>
            <a:endParaRPr lang="en-US" sz="4000" dirty="0"/>
          </a:p>
        </p:txBody>
      </p:sp>
      <p:sp>
        <p:nvSpPr>
          <p:cNvPr id="7" name="Text 4"/>
          <p:cNvSpPr/>
          <p:nvPr/>
        </p:nvSpPr>
        <p:spPr>
          <a:xfrm>
            <a:off x="749808" y="4059936"/>
            <a:ext cx="4480560" cy="310896"/>
          </a:xfrm>
          <a:prstGeom prst="rect">
            <a:avLst/>
          </a:prstGeom>
          <a:noFill/>
          <a:ln/>
        </p:spPr>
        <p:txBody>
          <a:bodyPr wrap="square" lIns="0" tIns="0" rIns="0" bIns="0" rtlCol="0" anchor="ctr">
            <a:normAutofit/>
          </a:bodyPr>
          <a:lstStyle/>
          <a:p>
            <a:pPr algn="l" indent="0" marL="0">
              <a:buNone/>
            </a:pPr>
            <a:r>
              <a:rPr lang="en-US" sz="1500" dirty="0">
                <a:solidFill>
                  <a:srgbClr val="606A7A"/>
                </a:solidFill>
                <a:latin typeface="Noto Sans CJK KR" pitchFamily="34" charset="0"/>
                <a:ea typeface="Noto Sans CJK KR" pitchFamily="34" charset="-122"/>
                <a:cs typeface="Noto Sans CJK KR" pitchFamily="34" charset="-120"/>
              </a:rPr>
              <a:t>스마트폰 알림이 우리의 작업 맥락을 끊는 방식</a:t>
            </a:r>
            <a:endParaRPr lang="en-US" sz="1500" dirty="0"/>
          </a:p>
        </p:txBody>
      </p:sp>
      <p:sp>
        <p:nvSpPr>
          <p:cNvPr id="8" name="Shape 5"/>
          <p:cNvSpPr/>
          <p:nvPr/>
        </p:nvSpPr>
        <p:spPr>
          <a:xfrm>
            <a:off x="749808" y="4773168"/>
            <a:ext cx="2011680" cy="0"/>
          </a:xfrm>
          <a:prstGeom prst="line">
            <a:avLst/>
          </a:prstGeom>
          <a:noFill/>
          <a:ln w="27940">
            <a:solidFill>
              <a:srgbClr val="235CFF"/>
            </a:solidFill>
            <a:prstDash val="solid"/>
          </a:ln>
        </p:spPr>
      </p:sp>
      <p:sp>
        <p:nvSpPr>
          <p:cNvPr id="9" name="Text 6"/>
          <p:cNvSpPr/>
          <p:nvPr/>
        </p:nvSpPr>
        <p:spPr>
          <a:xfrm>
            <a:off x="758952" y="5148072"/>
            <a:ext cx="1280160" cy="182880"/>
          </a:xfrm>
          <a:prstGeom prst="rect">
            <a:avLst/>
          </a:prstGeom>
          <a:noFill/>
          <a:ln/>
        </p:spPr>
        <p:txBody>
          <a:bodyPr wrap="square" lIns="0" tIns="0" rIns="0" bIns="0" rtlCol="0" anchor="ctr">
            <a:normAutofit/>
          </a:bodyPr>
          <a:lstStyle/>
          <a:p>
            <a:pPr algn="l" indent="0" marL="0">
              <a:buNone/>
            </a:pPr>
            <a:r>
              <a:rPr lang="en-US" sz="900" b="1" dirty="0">
                <a:solidFill>
                  <a:srgbClr val="235CFF"/>
                </a:solidFill>
                <a:latin typeface="Noto Sans CJK KR" pitchFamily="34" charset="0"/>
                <a:ea typeface="Noto Sans CJK KR" pitchFamily="34" charset="-122"/>
                <a:cs typeface="Noto Sans CJK KR" pitchFamily="34" charset="-120"/>
              </a:rPr>
              <a:t>핵심 메시지</a:t>
            </a:r>
            <a:endParaRPr lang="en-US" sz="900" dirty="0"/>
          </a:p>
        </p:txBody>
      </p:sp>
      <p:sp>
        <p:nvSpPr>
          <p:cNvPr id="10" name="Text 7"/>
          <p:cNvSpPr/>
          <p:nvPr/>
        </p:nvSpPr>
        <p:spPr>
          <a:xfrm>
            <a:off x="749808" y="5440680"/>
            <a:ext cx="4572000" cy="530352"/>
          </a:xfrm>
          <a:prstGeom prst="rect">
            <a:avLst/>
          </a:prstGeom>
          <a:noFill/>
          <a:ln/>
        </p:spPr>
        <p:txBody>
          <a:bodyPr wrap="square" lIns="0" tIns="0" rIns="0" bIns="0" rtlCol="0" anchor="ctr">
            <a:normAutofit/>
          </a:bodyPr>
          <a:lstStyle/>
          <a:p>
            <a:pPr algn="l" indent="0" marL="0">
              <a:buNone/>
            </a:pPr>
            <a:r>
              <a:rPr lang="en-US" sz="1700" b="1" dirty="0">
                <a:solidFill>
                  <a:srgbClr val="151C26"/>
                </a:solidFill>
                <a:latin typeface="Noto Sans CJK KR" pitchFamily="34" charset="0"/>
                <a:ea typeface="Noto Sans CJK KR" pitchFamily="34" charset="-122"/>
                <a:cs typeface="Noto Sans CJK KR" pitchFamily="34" charset="-120"/>
              </a:rPr>
              <a:t>알림은 시간을 훔치는 게 아니라,</a:t>
            </a:r>
            <a:endParaRPr lang="en-US" sz="1700" dirty="0"/>
          </a:p>
          <a:p>
            <a:pPr algn="l" indent="0" marL="0">
              <a:buNone/>
            </a:pPr>
            <a:r>
              <a:rPr lang="en-US" sz="1700" b="1" dirty="0">
                <a:solidFill>
                  <a:srgbClr val="151C26"/>
                </a:solidFill>
                <a:latin typeface="Noto Sans CJK KR" pitchFamily="34" charset="0"/>
                <a:ea typeface="Noto Sans CJK KR" pitchFamily="34" charset="-122"/>
                <a:cs typeface="Noto Sans CJK KR" pitchFamily="34" charset="-120"/>
              </a:rPr>
              <a:t>머릿속 흐름을 끊는다.</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CF7"/>
        </a:solidFill>
      </p:bgPr>
    </p:bg>
    <p:spTree>
      <p:nvGrpSpPr>
        <p:cNvPr id="1" name=""/>
        <p:cNvGrpSpPr/>
        <p:nvPr/>
      </p:nvGrpSpPr>
      <p:grpSpPr>
        <a:xfrm>
          <a:off x="0" y="0"/>
          <a:ext cx="0" cy="0"/>
          <a:chOff x="0" y="0"/>
          <a:chExt cx="0" cy="0"/>
        </a:xfrm>
      </p:grpSpPr>
      <p:sp>
        <p:nvSpPr>
          <p:cNvPr id="2" name="Text 0"/>
          <p:cNvSpPr/>
          <p:nvPr/>
        </p:nvSpPr>
        <p:spPr>
          <a:xfrm>
            <a:off x="640080" y="347472"/>
            <a:ext cx="3840480" cy="219456"/>
          </a:xfrm>
          <a:prstGeom prst="rect">
            <a:avLst/>
          </a:prstGeom>
          <a:noFill/>
          <a:ln/>
        </p:spPr>
        <p:txBody>
          <a:bodyPr wrap="square" lIns="0" tIns="0" rIns="0" bIns="0" rtlCol="0" anchor="ctr">
            <a:normAutofit/>
          </a:bodyPr>
          <a:lstStyle/>
          <a:p>
            <a:pPr algn="l" indent="0" marL="0">
              <a:buNone/>
            </a:pPr>
            <a:r>
              <a:rPr lang="en-US" sz="800" b="1" dirty="0">
                <a:solidFill>
                  <a:srgbClr val="235CFF"/>
                </a:solidFill>
                <a:latin typeface="Noto Sans CJK KR" pitchFamily="34" charset="0"/>
                <a:ea typeface="Noto Sans CJK KR" pitchFamily="34" charset="-122"/>
                <a:cs typeface="Noto Sans CJK KR" pitchFamily="34" charset="-120"/>
              </a:rPr>
              <a:t>PROBLEM</a:t>
            </a:r>
            <a:endParaRPr lang="en-US" sz="800" dirty="0"/>
          </a:p>
        </p:txBody>
      </p:sp>
      <p:sp>
        <p:nvSpPr>
          <p:cNvPr id="3" name="Text 1"/>
          <p:cNvSpPr/>
          <p:nvPr/>
        </p:nvSpPr>
        <p:spPr>
          <a:xfrm>
            <a:off x="11109960" y="320040"/>
            <a:ext cx="548640" cy="201168"/>
          </a:xfrm>
          <a:prstGeom prst="rect">
            <a:avLst/>
          </a:prstGeom>
          <a:noFill/>
          <a:ln/>
        </p:spPr>
        <p:txBody>
          <a:bodyPr wrap="square" lIns="0" tIns="0" rIns="0" bIns="0" rtlCol="0" anchor="ctr">
            <a:normAutofit/>
          </a:bodyPr>
          <a:lstStyle/>
          <a:p>
            <a:pPr algn="r" indent="0" marL="0">
              <a:buNone/>
            </a:pPr>
            <a:r>
              <a:rPr lang="en-US" sz="800" b="1" dirty="0">
                <a:solidFill>
                  <a:srgbClr val="606A7A"/>
                </a:solidFill>
                <a:latin typeface="Noto Sans CJK KR" pitchFamily="34" charset="0"/>
                <a:ea typeface="Noto Sans CJK KR" pitchFamily="34" charset="-122"/>
                <a:cs typeface="Noto Sans CJK KR" pitchFamily="34" charset="-120"/>
              </a:rPr>
              <a:t>02</a:t>
            </a:r>
            <a:endParaRPr lang="en-US" sz="800" dirty="0"/>
          </a:p>
        </p:txBody>
      </p:sp>
      <p:sp>
        <p:nvSpPr>
          <p:cNvPr id="4" name="Text 2"/>
          <p:cNvSpPr/>
          <p:nvPr/>
        </p:nvSpPr>
        <p:spPr>
          <a:xfrm>
            <a:off x="640080" y="713232"/>
            <a:ext cx="8869680" cy="676656"/>
          </a:xfrm>
          <a:prstGeom prst="rect">
            <a:avLst/>
          </a:prstGeom>
          <a:noFill/>
          <a:ln/>
        </p:spPr>
        <p:txBody>
          <a:bodyPr wrap="square" lIns="0" tIns="0" rIns="0" bIns="0" rtlCol="0" anchor="ctr">
            <a:normAutofit/>
          </a:bodyPr>
          <a:lstStyle/>
          <a:p>
            <a:pPr algn="l" indent="0" marL="0">
              <a:buNone/>
            </a:pPr>
            <a:r>
              <a:rPr lang="en-US" sz="3000" b="1" dirty="0">
                <a:solidFill>
                  <a:srgbClr val="151C26"/>
                </a:solidFill>
                <a:latin typeface="Noto Sans CJK KR" pitchFamily="34" charset="0"/>
                <a:ea typeface="Noto Sans CJK KR" pitchFamily="34" charset="-122"/>
                <a:cs typeface="Noto Sans CJK KR" pitchFamily="34" charset="-120"/>
              </a:rPr>
              <a:t>“5초만 봤는데”가 왜 오래 남을까?</a:t>
            </a:r>
            <a:endParaRPr lang="en-US" sz="3000" dirty="0"/>
          </a:p>
        </p:txBody>
      </p:sp>
      <p:sp>
        <p:nvSpPr>
          <p:cNvPr id="5" name="Text 3"/>
          <p:cNvSpPr/>
          <p:nvPr/>
        </p:nvSpPr>
        <p:spPr>
          <a:xfrm>
            <a:off x="658368" y="1481328"/>
            <a:ext cx="7315200" cy="329184"/>
          </a:xfrm>
          <a:prstGeom prst="rect">
            <a:avLst/>
          </a:prstGeom>
          <a:noFill/>
          <a:ln/>
        </p:spPr>
        <p:txBody>
          <a:bodyPr wrap="square" lIns="0" tIns="0" rIns="0" bIns="0" rtlCol="0" anchor="ctr">
            <a:normAutofit/>
          </a:bodyPr>
          <a:lstStyle/>
          <a:p>
            <a:pPr algn="l" indent="0" marL="0">
              <a:buNone/>
            </a:pPr>
            <a:r>
              <a:rPr lang="en-US" sz="1250" dirty="0">
                <a:solidFill>
                  <a:srgbClr val="606A7A"/>
                </a:solidFill>
                <a:latin typeface="Noto Sans CJK KR" pitchFamily="34" charset="0"/>
                <a:ea typeface="Noto Sans CJK KR" pitchFamily="34" charset="-122"/>
                <a:cs typeface="Noto Sans CJK KR" pitchFamily="34" charset="-120"/>
              </a:rPr>
              <a:t>손실은 화면을 본 시간보다, 다시 돌아오는 과정에서 커진다.</a:t>
            </a:r>
            <a:endParaRPr lang="en-US" sz="1250" dirty="0"/>
          </a:p>
        </p:txBody>
      </p:sp>
      <p:sp>
        <p:nvSpPr>
          <p:cNvPr id="6" name="Text 4"/>
          <p:cNvSpPr/>
          <p:nvPr/>
        </p:nvSpPr>
        <p:spPr>
          <a:xfrm>
            <a:off x="914400" y="2057400"/>
            <a:ext cx="1874520" cy="685800"/>
          </a:xfrm>
          <a:prstGeom prst="rect">
            <a:avLst/>
          </a:prstGeom>
          <a:noFill/>
          <a:ln/>
        </p:spPr>
        <p:txBody>
          <a:bodyPr wrap="square" lIns="0" tIns="0" rIns="0" bIns="0" rtlCol="0" anchor="ctr">
            <a:normAutofit/>
          </a:bodyPr>
          <a:lstStyle/>
          <a:p>
            <a:pPr algn="ctr" indent="0" marL="0">
              <a:buNone/>
            </a:pPr>
            <a:r>
              <a:rPr lang="en-US" sz="5400" b="1" dirty="0">
                <a:solidFill>
                  <a:srgbClr val="F2545B"/>
                </a:solidFill>
                <a:latin typeface="Noto Sans CJK KR" pitchFamily="34" charset="0"/>
                <a:ea typeface="Noto Sans CJK KR" pitchFamily="34" charset="-122"/>
                <a:cs typeface="Noto Sans CJK KR" pitchFamily="34" charset="-120"/>
              </a:rPr>
              <a:t>5초</a:t>
            </a:r>
            <a:endParaRPr lang="en-US" sz="5400" dirty="0"/>
          </a:p>
        </p:txBody>
      </p:sp>
      <p:sp>
        <p:nvSpPr>
          <p:cNvPr id="7" name="Text 5"/>
          <p:cNvSpPr/>
          <p:nvPr/>
        </p:nvSpPr>
        <p:spPr>
          <a:xfrm>
            <a:off x="960120" y="2770632"/>
            <a:ext cx="1737360" cy="228600"/>
          </a:xfrm>
          <a:prstGeom prst="rect">
            <a:avLst/>
          </a:prstGeom>
          <a:noFill/>
          <a:ln/>
        </p:spPr>
        <p:txBody>
          <a:bodyPr wrap="square" lIns="0" tIns="0" rIns="0" bIns="0" rtlCol="0" anchor="ctr">
            <a:normAutofit/>
          </a:bodyPr>
          <a:lstStyle/>
          <a:p>
            <a:pPr algn="ctr" indent="0" marL="0">
              <a:buNone/>
            </a:pPr>
            <a:r>
              <a:rPr lang="en-US" sz="1500" b="1" dirty="0">
                <a:solidFill>
                  <a:srgbClr val="151C26"/>
                </a:solidFill>
                <a:latin typeface="Noto Sans CJK KR" pitchFamily="34" charset="0"/>
                <a:ea typeface="Noto Sans CJK KR" pitchFamily="34" charset="-122"/>
                <a:cs typeface="Noto Sans CJK KR" pitchFamily="34" charset="-120"/>
              </a:rPr>
              <a:t>알림 확인</a:t>
            </a:r>
            <a:endParaRPr lang="en-US" sz="1500" dirty="0"/>
          </a:p>
        </p:txBody>
      </p:sp>
      <p:sp>
        <p:nvSpPr>
          <p:cNvPr id="8" name="Text 6"/>
          <p:cNvSpPr/>
          <p:nvPr/>
        </p:nvSpPr>
        <p:spPr>
          <a:xfrm>
            <a:off x="3337560" y="2359152"/>
            <a:ext cx="822960" cy="475488"/>
          </a:xfrm>
          <a:prstGeom prst="rect">
            <a:avLst/>
          </a:prstGeom>
          <a:noFill/>
          <a:ln/>
        </p:spPr>
        <p:txBody>
          <a:bodyPr wrap="square" lIns="0" tIns="0" rIns="0" bIns="0" rtlCol="0" anchor="ctr">
            <a:normAutofit/>
          </a:bodyPr>
          <a:lstStyle/>
          <a:p>
            <a:pPr algn="ctr" indent="0" marL="0">
              <a:buNone/>
            </a:pPr>
            <a:r>
              <a:rPr lang="en-US" sz="4200" b="1" dirty="0">
                <a:solidFill>
                  <a:srgbClr val="D9D2C8"/>
                </a:solidFill>
                <a:latin typeface="Noto Sans CJK KR" pitchFamily="34" charset="0"/>
                <a:ea typeface="Noto Sans CJK KR" pitchFamily="34" charset="-122"/>
                <a:cs typeface="Noto Sans CJK KR" pitchFamily="34" charset="-120"/>
              </a:rPr>
              <a:t>≠</a:t>
            </a:r>
            <a:endParaRPr lang="en-US" sz="4200" dirty="0"/>
          </a:p>
        </p:txBody>
      </p:sp>
      <p:sp>
        <p:nvSpPr>
          <p:cNvPr id="9" name="Text 7"/>
          <p:cNvSpPr/>
          <p:nvPr/>
        </p:nvSpPr>
        <p:spPr>
          <a:xfrm>
            <a:off x="4663440" y="2057400"/>
            <a:ext cx="1874520" cy="685800"/>
          </a:xfrm>
          <a:prstGeom prst="rect">
            <a:avLst/>
          </a:prstGeom>
          <a:noFill/>
          <a:ln/>
        </p:spPr>
        <p:txBody>
          <a:bodyPr wrap="square" lIns="0" tIns="0" rIns="0" bIns="0" rtlCol="0" anchor="ctr">
            <a:normAutofit/>
          </a:bodyPr>
          <a:lstStyle/>
          <a:p>
            <a:pPr algn="ctr" indent="0" marL="0">
              <a:buNone/>
            </a:pPr>
            <a:r>
              <a:rPr lang="en-US" sz="5400" b="1" dirty="0">
                <a:solidFill>
                  <a:srgbClr val="235CFF"/>
                </a:solidFill>
                <a:latin typeface="Noto Sans CJK KR" pitchFamily="34" charset="0"/>
                <a:ea typeface="Noto Sans CJK KR" pitchFamily="34" charset="-122"/>
                <a:cs typeface="Noto Sans CJK KR" pitchFamily="34" charset="-120"/>
              </a:rPr>
              <a:t>5초</a:t>
            </a:r>
            <a:endParaRPr lang="en-US" sz="5400" dirty="0"/>
          </a:p>
        </p:txBody>
      </p:sp>
      <p:sp>
        <p:nvSpPr>
          <p:cNvPr id="10" name="Text 8"/>
          <p:cNvSpPr/>
          <p:nvPr/>
        </p:nvSpPr>
        <p:spPr>
          <a:xfrm>
            <a:off x="4709160" y="2770632"/>
            <a:ext cx="1783080" cy="228600"/>
          </a:xfrm>
          <a:prstGeom prst="rect">
            <a:avLst/>
          </a:prstGeom>
          <a:noFill/>
          <a:ln/>
        </p:spPr>
        <p:txBody>
          <a:bodyPr wrap="square" lIns="0" tIns="0" rIns="0" bIns="0" rtlCol="0" anchor="ctr">
            <a:normAutofit/>
          </a:bodyPr>
          <a:lstStyle/>
          <a:p>
            <a:pPr algn="ctr" indent="0" marL="0">
              <a:buNone/>
            </a:pPr>
            <a:r>
              <a:rPr lang="en-US" sz="1500" b="1" dirty="0">
                <a:solidFill>
                  <a:srgbClr val="151C26"/>
                </a:solidFill>
                <a:latin typeface="Noto Sans CJK KR" pitchFamily="34" charset="0"/>
                <a:ea typeface="Noto Sans CJK KR" pitchFamily="34" charset="-122"/>
                <a:cs typeface="Noto Sans CJK KR" pitchFamily="34" charset="-120"/>
              </a:rPr>
              <a:t>집중 손실</a:t>
            </a:r>
            <a:endParaRPr lang="en-US" sz="1500" dirty="0"/>
          </a:p>
        </p:txBody>
      </p:sp>
      <p:sp>
        <p:nvSpPr>
          <p:cNvPr id="11" name="Shape 9"/>
          <p:cNvSpPr/>
          <p:nvPr/>
        </p:nvSpPr>
        <p:spPr>
          <a:xfrm>
            <a:off x="868680" y="3913632"/>
            <a:ext cx="9966960" cy="0"/>
          </a:xfrm>
          <a:prstGeom prst="line">
            <a:avLst/>
          </a:prstGeom>
          <a:noFill/>
          <a:ln w="15240">
            <a:solidFill>
              <a:srgbClr val="D9D2C8"/>
            </a:solidFill>
            <a:prstDash val="solid"/>
          </a:ln>
        </p:spPr>
      </p:sp>
      <p:sp>
        <p:nvSpPr>
          <p:cNvPr id="12" name="Shape 10"/>
          <p:cNvSpPr/>
          <p:nvPr/>
        </p:nvSpPr>
        <p:spPr>
          <a:xfrm>
            <a:off x="914400" y="3675888"/>
            <a:ext cx="493776" cy="493776"/>
          </a:xfrm>
          <a:prstGeom prst="ellipse">
            <a:avLst/>
          </a:prstGeom>
          <a:solidFill>
            <a:srgbClr val="F2545B"/>
          </a:solidFill>
          <a:ln w="12700">
            <a:solidFill>
              <a:srgbClr val="FFFFFF">
                <a:alpha val="0"/>
              </a:srgbClr>
            </a:solidFill>
            <a:prstDash val="solid"/>
          </a:ln>
        </p:spPr>
      </p:sp>
      <p:sp>
        <p:nvSpPr>
          <p:cNvPr id="13" name="Text 11"/>
          <p:cNvSpPr/>
          <p:nvPr/>
        </p:nvSpPr>
        <p:spPr>
          <a:xfrm>
            <a:off x="621792" y="4334256"/>
            <a:ext cx="1051560" cy="201168"/>
          </a:xfrm>
          <a:prstGeom prst="rect">
            <a:avLst/>
          </a:prstGeom>
          <a:noFill/>
          <a:ln/>
        </p:spPr>
        <p:txBody>
          <a:bodyPr wrap="square" lIns="0" tIns="0" rIns="0" bIns="0" rtlCol="0" anchor="ctr">
            <a:normAutofit/>
          </a:bodyPr>
          <a:lstStyle/>
          <a:p>
            <a:pPr algn="ctr" indent="0" marL="0">
              <a:buNone/>
            </a:pPr>
            <a:r>
              <a:rPr lang="en-US" sz="1400" b="1" dirty="0">
                <a:solidFill>
                  <a:srgbClr val="151C26"/>
                </a:solidFill>
                <a:latin typeface="Noto Sans CJK KR" pitchFamily="34" charset="0"/>
                <a:ea typeface="Noto Sans CJK KR" pitchFamily="34" charset="-122"/>
                <a:cs typeface="Noto Sans CJK KR" pitchFamily="34" charset="-120"/>
              </a:rPr>
              <a:t>알림</a:t>
            </a:r>
            <a:endParaRPr lang="en-US" sz="1400" dirty="0"/>
          </a:p>
        </p:txBody>
      </p:sp>
      <p:sp>
        <p:nvSpPr>
          <p:cNvPr id="14" name="Text 12"/>
          <p:cNvSpPr/>
          <p:nvPr/>
        </p:nvSpPr>
        <p:spPr>
          <a:xfrm>
            <a:off x="457200" y="4663440"/>
            <a:ext cx="1417320" cy="201168"/>
          </a:xfrm>
          <a:prstGeom prst="rect">
            <a:avLst/>
          </a:prstGeom>
          <a:noFill/>
          <a:ln/>
        </p:spPr>
        <p:txBody>
          <a:bodyPr wrap="square" lIns="0" tIns="0" rIns="0" bIns="0" rtlCol="0" anchor="ctr">
            <a:normAutofit/>
          </a:bodyPr>
          <a:lstStyle/>
          <a:p>
            <a:pPr algn="ctr" indent="0" marL="0">
              <a:buNone/>
            </a:pPr>
            <a:r>
              <a:rPr lang="en-US" sz="900" dirty="0">
                <a:solidFill>
                  <a:srgbClr val="606A7A"/>
                </a:solidFill>
                <a:latin typeface="Noto Sans CJK KR" pitchFamily="34" charset="0"/>
                <a:ea typeface="Noto Sans CJK KR" pitchFamily="34" charset="-122"/>
                <a:cs typeface="Noto Sans CJK KR" pitchFamily="34" charset="-120"/>
              </a:rPr>
              <a:t>주의가 튄다</a:t>
            </a:r>
            <a:endParaRPr lang="en-US" sz="900" dirty="0"/>
          </a:p>
        </p:txBody>
      </p:sp>
      <p:sp>
        <p:nvSpPr>
          <p:cNvPr id="15" name="Shape 13"/>
          <p:cNvSpPr/>
          <p:nvPr/>
        </p:nvSpPr>
        <p:spPr>
          <a:xfrm>
            <a:off x="3520440" y="3675888"/>
            <a:ext cx="493776" cy="493776"/>
          </a:xfrm>
          <a:prstGeom prst="ellipse">
            <a:avLst/>
          </a:prstGeom>
          <a:solidFill>
            <a:srgbClr val="235CFF"/>
          </a:solidFill>
          <a:ln w="12700">
            <a:solidFill>
              <a:srgbClr val="FFFFFF">
                <a:alpha val="0"/>
              </a:srgbClr>
            </a:solidFill>
            <a:prstDash val="solid"/>
          </a:ln>
        </p:spPr>
      </p:sp>
      <p:sp>
        <p:nvSpPr>
          <p:cNvPr id="16" name="Text 14"/>
          <p:cNvSpPr/>
          <p:nvPr/>
        </p:nvSpPr>
        <p:spPr>
          <a:xfrm>
            <a:off x="3227832" y="4334256"/>
            <a:ext cx="1051560" cy="201168"/>
          </a:xfrm>
          <a:prstGeom prst="rect">
            <a:avLst/>
          </a:prstGeom>
          <a:noFill/>
          <a:ln/>
        </p:spPr>
        <p:txBody>
          <a:bodyPr wrap="square" lIns="0" tIns="0" rIns="0" bIns="0" rtlCol="0" anchor="ctr">
            <a:normAutofit/>
          </a:bodyPr>
          <a:lstStyle/>
          <a:p>
            <a:pPr algn="ctr" indent="0" marL="0">
              <a:buNone/>
            </a:pPr>
            <a:r>
              <a:rPr lang="en-US" sz="1400" b="1" dirty="0">
                <a:solidFill>
                  <a:srgbClr val="151C26"/>
                </a:solidFill>
                <a:latin typeface="Noto Sans CJK KR" pitchFamily="34" charset="0"/>
                <a:ea typeface="Noto Sans CJK KR" pitchFamily="34" charset="-122"/>
                <a:cs typeface="Noto Sans CJK KR" pitchFamily="34" charset="-120"/>
              </a:rPr>
              <a:t>확인</a:t>
            </a:r>
            <a:endParaRPr lang="en-US" sz="1400" dirty="0"/>
          </a:p>
        </p:txBody>
      </p:sp>
      <p:sp>
        <p:nvSpPr>
          <p:cNvPr id="17" name="Text 15"/>
          <p:cNvSpPr/>
          <p:nvPr/>
        </p:nvSpPr>
        <p:spPr>
          <a:xfrm>
            <a:off x="3063240" y="4663440"/>
            <a:ext cx="1417320" cy="201168"/>
          </a:xfrm>
          <a:prstGeom prst="rect">
            <a:avLst/>
          </a:prstGeom>
          <a:noFill/>
          <a:ln/>
        </p:spPr>
        <p:txBody>
          <a:bodyPr wrap="square" lIns="0" tIns="0" rIns="0" bIns="0" rtlCol="0" anchor="ctr">
            <a:normAutofit/>
          </a:bodyPr>
          <a:lstStyle/>
          <a:p>
            <a:pPr algn="ctr" indent="0" marL="0">
              <a:buNone/>
            </a:pPr>
            <a:r>
              <a:rPr lang="en-US" sz="900" dirty="0">
                <a:solidFill>
                  <a:srgbClr val="606A7A"/>
                </a:solidFill>
                <a:latin typeface="Noto Sans CJK KR" pitchFamily="34" charset="0"/>
                <a:ea typeface="Noto Sans CJK KR" pitchFamily="34" charset="-122"/>
                <a:cs typeface="Noto Sans CJK KR" pitchFamily="34" charset="-120"/>
              </a:rPr>
              <a:t>다른 정보로 이동</a:t>
            </a:r>
            <a:endParaRPr lang="en-US" sz="900" dirty="0"/>
          </a:p>
        </p:txBody>
      </p:sp>
      <p:sp>
        <p:nvSpPr>
          <p:cNvPr id="18" name="Shape 16"/>
          <p:cNvSpPr/>
          <p:nvPr/>
        </p:nvSpPr>
        <p:spPr>
          <a:xfrm>
            <a:off x="6126480" y="3675888"/>
            <a:ext cx="493776" cy="493776"/>
          </a:xfrm>
          <a:prstGeom prst="ellipse">
            <a:avLst/>
          </a:prstGeom>
          <a:solidFill>
            <a:srgbClr val="235CFF"/>
          </a:solidFill>
          <a:ln w="12700">
            <a:solidFill>
              <a:srgbClr val="FFFFFF">
                <a:alpha val="0"/>
              </a:srgbClr>
            </a:solidFill>
            <a:prstDash val="solid"/>
          </a:ln>
        </p:spPr>
      </p:sp>
      <p:sp>
        <p:nvSpPr>
          <p:cNvPr id="19" name="Text 17"/>
          <p:cNvSpPr/>
          <p:nvPr/>
        </p:nvSpPr>
        <p:spPr>
          <a:xfrm>
            <a:off x="5833872" y="4334256"/>
            <a:ext cx="1051560" cy="201168"/>
          </a:xfrm>
          <a:prstGeom prst="rect">
            <a:avLst/>
          </a:prstGeom>
          <a:noFill/>
          <a:ln/>
        </p:spPr>
        <p:txBody>
          <a:bodyPr wrap="square" lIns="0" tIns="0" rIns="0" bIns="0" rtlCol="0" anchor="ctr">
            <a:normAutofit/>
          </a:bodyPr>
          <a:lstStyle/>
          <a:p>
            <a:pPr algn="ctr" indent="0" marL="0">
              <a:buNone/>
            </a:pPr>
            <a:r>
              <a:rPr lang="en-US" sz="1400" b="1" dirty="0">
                <a:solidFill>
                  <a:srgbClr val="151C26"/>
                </a:solidFill>
                <a:latin typeface="Noto Sans CJK KR" pitchFamily="34" charset="0"/>
                <a:ea typeface="Noto Sans CJK KR" pitchFamily="34" charset="-122"/>
                <a:cs typeface="Noto Sans CJK KR" pitchFamily="34" charset="-120"/>
              </a:rPr>
              <a:t>전환</a:t>
            </a:r>
            <a:endParaRPr lang="en-US" sz="1400" dirty="0"/>
          </a:p>
        </p:txBody>
      </p:sp>
      <p:sp>
        <p:nvSpPr>
          <p:cNvPr id="20" name="Text 18"/>
          <p:cNvSpPr/>
          <p:nvPr/>
        </p:nvSpPr>
        <p:spPr>
          <a:xfrm>
            <a:off x="5669280" y="4663440"/>
            <a:ext cx="1417320" cy="201168"/>
          </a:xfrm>
          <a:prstGeom prst="rect">
            <a:avLst/>
          </a:prstGeom>
          <a:noFill/>
          <a:ln/>
        </p:spPr>
        <p:txBody>
          <a:bodyPr wrap="square" lIns="0" tIns="0" rIns="0" bIns="0" rtlCol="0" anchor="ctr">
            <a:normAutofit/>
          </a:bodyPr>
          <a:lstStyle/>
          <a:p>
            <a:pPr algn="ctr" indent="0" marL="0">
              <a:buNone/>
            </a:pPr>
            <a:r>
              <a:rPr lang="en-US" sz="900" dirty="0">
                <a:solidFill>
                  <a:srgbClr val="606A7A"/>
                </a:solidFill>
                <a:latin typeface="Noto Sans CJK KR" pitchFamily="34" charset="0"/>
                <a:ea typeface="Noto Sans CJK KR" pitchFamily="34" charset="-122"/>
                <a:cs typeface="Noto Sans CJK KR" pitchFamily="34" charset="-120"/>
              </a:rPr>
              <a:t>하던 일이 멈춘다</a:t>
            </a:r>
            <a:endParaRPr lang="en-US" sz="900" dirty="0"/>
          </a:p>
        </p:txBody>
      </p:sp>
      <p:sp>
        <p:nvSpPr>
          <p:cNvPr id="21" name="Shape 19"/>
          <p:cNvSpPr/>
          <p:nvPr/>
        </p:nvSpPr>
        <p:spPr>
          <a:xfrm>
            <a:off x="8732520" y="3675888"/>
            <a:ext cx="493776" cy="493776"/>
          </a:xfrm>
          <a:prstGeom prst="ellipse">
            <a:avLst/>
          </a:prstGeom>
          <a:solidFill>
            <a:srgbClr val="3FB889"/>
          </a:solidFill>
          <a:ln w="12700">
            <a:solidFill>
              <a:srgbClr val="FFFFFF">
                <a:alpha val="0"/>
              </a:srgbClr>
            </a:solidFill>
            <a:prstDash val="solid"/>
          </a:ln>
        </p:spPr>
      </p:sp>
      <p:sp>
        <p:nvSpPr>
          <p:cNvPr id="22" name="Text 20"/>
          <p:cNvSpPr/>
          <p:nvPr/>
        </p:nvSpPr>
        <p:spPr>
          <a:xfrm>
            <a:off x="8439912" y="4334256"/>
            <a:ext cx="1051560" cy="201168"/>
          </a:xfrm>
          <a:prstGeom prst="rect">
            <a:avLst/>
          </a:prstGeom>
          <a:noFill/>
          <a:ln/>
        </p:spPr>
        <p:txBody>
          <a:bodyPr wrap="square" lIns="0" tIns="0" rIns="0" bIns="0" rtlCol="0" anchor="ctr">
            <a:normAutofit/>
          </a:bodyPr>
          <a:lstStyle/>
          <a:p>
            <a:pPr algn="ctr" indent="0" marL="0">
              <a:buNone/>
            </a:pPr>
            <a:r>
              <a:rPr lang="en-US" sz="1400" b="1" dirty="0">
                <a:solidFill>
                  <a:srgbClr val="151C26"/>
                </a:solidFill>
                <a:latin typeface="Noto Sans CJK KR" pitchFamily="34" charset="0"/>
                <a:ea typeface="Noto Sans CJK KR" pitchFamily="34" charset="-122"/>
                <a:cs typeface="Noto Sans CJK KR" pitchFamily="34" charset="-120"/>
              </a:rPr>
              <a:t>복구</a:t>
            </a:r>
            <a:endParaRPr lang="en-US" sz="1400" dirty="0"/>
          </a:p>
        </p:txBody>
      </p:sp>
      <p:sp>
        <p:nvSpPr>
          <p:cNvPr id="23" name="Text 21"/>
          <p:cNvSpPr/>
          <p:nvPr/>
        </p:nvSpPr>
        <p:spPr>
          <a:xfrm>
            <a:off x="8275320" y="4663440"/>
            <a:ext cx="1417320" cy="201168"/>
          </a:xfrm>
          <a:prstGeom prst="rect">
            <a:avLst/>
          </a:prstGeom>
          <a:noFill/>
          <a:ln/>
        </p:spPr>
        <p:txBody>
          <a:bodyPr wrap="square" lIns="0" tIns="0" rIns="0" bIns="0" rtlCol="0" anchor="ctr">
            <a:normAutofit/>
          </a:bodyPr>
          <a:lstStyle/>
          <a:p>
            <a:pPr algn="ctr" indent="0" marL="0">
              <a:buNone/>
            </a:pPr>
            <a:r>
              <a:rPr lang="en-US" sz="900" dirty="0">
                <a:solidFill>
                  <a:srgbClr val="606A7A"/>
                </a:solidFill>
                <a:latin typeface="Noto Sans CJK KR" pitchFamily="34" charset="0"/>
                <a:ea typeface="Noto Sans CJK KR" pitchFamily="34" charset="-122"/>
                <a:cs typeface="Noto Sans CJK KR" pitchFamily="34" charset="-120"/>
              </a:rPr>
              <a:t>맥락을 다시 찾는다</a:t>
            </a:r>
            <a:endParaRPr lang="en-US" sz="900" dirty="0"/>
          </a:p>
        </p:txBody>
      </p:sp>
      <p:sp>
        <p:nvSpPr>
          <p:cNvPr id="24" name="Text 22"/>
          <p:cNvSpPr/>
          <p:nvPr/>
        </p:nvSpPr>
        <p:spPr>
          <a:xfrm>
            <a:off x="1600200" y="5760720"/>
            <a:ext cx="8869680" cy="292608"/>
          </a:xfrm>
          <a:prstGeom prst="rect">
            <a:avLst/>
          </a:prstGeom>
          <a:noFill/>
          <a:ln/>
        </p:spPr>
        <p:txBody>
          <a:bodyPr wrap="square" lIns="0" tIns="0" rIns="0" bIns="0" rtlCol="0" anchor="ctr">
            <a:normAutofit/>
          </a:bodyPr>
          <a:lstStyle/>
          <a:p>
            <a:pPr algn="ctr" indent="0" marL="0">
              <a:buNone/>
            </a:pPr>
            <a:r>
              <a:rPr lang="en-US" sz="1800" b="1" dirty="0">
                <a:solidFill>
                  <a:srgbClr val="235CFF"/>
                </a:solidFill>
                <a:latin typeface="Noto Sans CJK KR" pitchFamily="34" charset="0"/>
                <a:ea typeface="Noto Sans CJK KR" pitchFamily="34" charset="-122"/>
                <a:cs typeface="Noto Sans CJK KR" pitchFamily="34" charset="-120"/>
              </a:rPr>
              <a:t>그래서 알림의 비용은 “초”가 아니라 “흐름”으로 봐야 한다.</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0E8"/>
        </a:solidFill>
      </p:bgPr>
    </p:bg>
    <p:spTree>
      <p:nvGrpSpPr>
        <p:cNvPr id="1" name=""/>
        <p:cNvGrpSpPr/>
        <p:nvPr/>
      </p:nvGrpSpPr>
      <p:grpSpPr>
        <a:xfrm>
          <a:off x="0" y="0"/>
          <a:ext cx="0" cy="0"/>
          <a:chOff x="0" y="0"/>
          <a:chExt cx="0" cy="0"/>
        </a:xfrm>
      </p:grpSpPr>
      <p:sp>
        <p:nvSpPr>
          <p:cNvPr id="2" name="Text 0"/>
          <p:cNvSpPr/>
          <p:nvPr/>
        </p:nvSpPr>
        <p:spPr>
          <a:xfrm>
            <a:off x="640080" y="347472"/>
            <a:ext cx="3840480" cy="219456"/>
          </a:xfrm>
          <a:prstGeom prst="rect">
            <a:avLst/>
          </a:prstGeom>
          <a:noFill/>
          <a:ln/>
        </p:spPr>
        <p:txBody>
          <a:bodyPr wrap="square" lIns="0" tIns="0" rIns="0" bIns="0" rtlCol="0" anchor="ctr">
            <a:normAutofit/>
          </a:bodyPr>
          <a:lstStyle/>
          <a:p>
            <a:pPr algn="l" indent="0" marL="0">
              <a:buNone/>
            </a:pPr>
            <a:r>
              <a:rPr lang="en-US" sz="800" b="1" dirty="0">
                <a:solidFill>
                  <a:srgbClr val="235CFF"/>
                </a:solidFill>
                <a:latin typeface="Noto Sans CJK KR" pitchFamily="34" charset="0"/>
                <a:ea typeface="Noto Sans CJK KR" pitchFamily="34" charset="-122"/>
                <a:cs typeface="Noto Sans CJK KR" pitchFamily="34" charset="-120"/>
              </a:rPr>
              <a:t>CORE IDEA</a:t>
            </a:r>
            <a:endParaRPr lang="en-US" sz="800" dirty="0"/>
          </a:p>
        </p:txBody>
      </p:sp>
      <p:sp>
        <p:nvSpPr>
          <p:cNvPr id="3" name="Text 1"/>
          <p:cNvSpPr/>
          <p:nvPr/>
        </p:nvSpPr>
        <p:spPr>
          <a:xfrm>
            <a:off x="11109960" y="320040"/>
            <a:ext cx="548640" cy="201168"/>
          </a:xfrm>
          <a:prstGeom prst="rect">
            <a:avLst/>
          </a:prstGeom>
          <a:noFill/>
          <a:ln/>
        </p:spPr>
        <p:txBody>
          <a:bodyPr wrap="square" lIns="0" tIns="0" rIns="0" bIns="0" rtlCol="0" anchor="ctr">
            <a:normAutofit/>
          </a:bodyPr>
          <a:lstStyle/>
          <a:p>
            <a:pPr algn="r" indent="0" marL="0">
              <a:buNone/>
            </a:pPr>
            <a:r>
              <a:rPr lang="en-US" sz="800" b="1" dirty="0">
                <a:solidFill>
                  <a:srgbClr val="606A7A"/>
                </a:solidFill>
                <a:latin typeface="Noto Sans CJK KR" pitchFamily="34" charset="0"/>
                <a:ea typeface="Noto Sans CJK KR" pitchFamily="34" charset="-122"/>
                <a:cs typeface="Noto Sans CJK KR" pitchFamily="34" charset="-120"/>
              </a:rPr>
              <a:t>03</a:t>
            </a:r>
            <a:endParaRPr lang="en-US" sz="800" dirty="0"/>
          </a:p>
        </p:txBody>
      </p:sp>
      <p:sp>
        <p:nvSpPr>
          <p:cNvPr id="4" name="Text 2"/>
          <p:cNvSpPr/>
          <p:nvPr/>
        </p:nvSpPr>
        <p:spPr>
          <a:xfrm>
            <a:off x="640080" y="713232"/>
            <a:ext cx="8869680" cy="676656"/>
          </a:xfrm>
          <a:prstGeom prst="rect">
            <a:avLst/>
          </a:prstGeom>
          <a:noFill/>
          <a:ln/>
        </p:spPr>
        <p:txBody>
          <a:bodyPr wrap="square" lIns="0" tIns="0" rIns="0" bIns="0" rtlCol="0" anchor="ctr">
            <a:normAutofit/>
          </a:bodyPr>
          <a:lstStyle/>
          <a:p>
            <a:pPr algn="l" indent="0" marL="0">
              <a:buNone/>
            </a:pPr>
            <a:r>
              <a:rPr lang="en-US" sz="2800" b="1" dirty="0">
                <a:solidFill>
                  <a:srgbClr val="151C26"/>
                </a:solidFill>
                <a:latin typeface="Noto Sans CJK KR" pitchFamily="34" charset="0"/>
                <a:ea typeface="Noto Sans CJK KR" pitchFamily="34" charset="-122"/>
                <a:cs typeface="Noto Sans CJK KR" pitchFamily="34" charset="-120"/>
              </a:rPr>
              <a:t>집중은 “시선”이 아니라 “작업 맥락”이다</a:t>
            </a:r>
            <a:endParaRPr lang="en-US" sz="2800" dirty="0"/>
          </a:p>
        </p:txBody>
      </p:sp>
      <p:sp>
        <p:nvSpPr>
          <p:cNvPr id="5" name="Text 3"/>
          <p:cNvSpPr/>
          <p:nvPr/>
        </p:nvSpPr>
        <p:spPr>
          <a:xfrm>
            <a:off x="658368" y="1481328"/>
            <a:ext cx="7315200" cy="329184"/>
          </a:xfrm>
          <a:prstGeom prst="rect">
            <a:avLst/>
          </a:prstGeom>
          <a:noFill/>
          <a:ln/>
        </p:spPr>
        <p:txBody>
          <a:bodyPr wrap="square" lIns="0" tIns="0" rIns="0" bIns="0" rtlCol="0" anchor="ctr">
            <a:normAutofit/>
          </a:bodyPr>
          <a:lstStyle/>
          <a:p>
            <a:pPr algn="l" indent="0" marL="0">
              <a:buNone/>
            </a:pPr>
            <a:r>
              <a:rPr lang="en-US" sz="1250" dirty="0">
                <a:solidFill>
                  <a:srgbClr val="606A7A"/>
                </a:solidFill>
                <a:latin typeface="Noto Sans CJK KR" pitchFamily="34" charset="0"/>
                <a:ea typeface="Noto Sans CJK KR" pitchFamily="34" charset="-122"/>
                <a:cs typeface="Noto Sans CJK KR" pitchFamily="34" charset="-120"/>
              </a:rPr>
              <a:t>알림은 눈길만 빼앗는 것이 아니라, 머릿속 작업 상태를 바꾼다.</a:t>
            </a:r>
            <a:endParaRPr lang="en-US" sz="1250" dirty="0"/>
          </a:p>
        </p:txBody>
      </p:sp>
      <p:pic>
        <p:nvPicPr>
          <p:cNvPr id="6" name="Image 0" descr="/mnt/data/a_calm_minimalist_workspace_scene_photographed_in.png">    </p:cNvPr>
          <p:cNvPicPr>
            <a:picLocks noChangeAspect="1"/>
          </p:cNvPicPr>
          <p:nvPr/>
        </p:nvPicPr>
        <p:blipFill>
          <a:blip r:embed="rId1"/>
          <a:srcRect l="0" r="29289" t="0" b="0"/>
          <a:stretch/>
        </p:blipFill>
        <p:spPr>
          <a:xfrm>
            <a:off x="658368" y="1874520"/>
            <a:ext cx="4480560" cy="3566160"/>
          </a:xfrm>
          <a:prstGeom prst="rect">
            <a:avLst/>
          </a:prstGeom>
        </p:spPr>
      </p:pic>
      <p:sp>
        <p:nvSpPr>
          <p:cNvPr id="7" name="Shape 4"/>
          <p:cNvSpPr/>
          <p:nvPr/>
        </p:nvSpPr>
        <p:spPr>
          <a:xfrm>
            <a:off x="5486400" y="1874520"/>
            <a:ext cx="5897880" cy="3566160"/>
          </a:xfrm>
          <a:prstGeom prst="roundRect">
            <a:avLst>
              <a:gd name="adj" fmla="val 3590"/>
            </a:avLst>
          </a:prstGeom>
          <a:solidFill>
            <a:srgbClr val="FFFCF7"/>
          </a:solidFill>
          <a:ln w="10160">
            <a:solidFill>
              <a:srgbClr val="E8DFD4">
                <a:alpha val="90000"/>
              </a:srgbClr>
            </a:solidFill>
            <a:prstDash val="solid"/>
          </a:ln>
        </p:spPr>
      </p:sp>
      <p:sp>
        <p:nvSpPr>
          <p:cNvPr id="8" name="Text 5"/>
          <p:cNvSpPr/>
          <p:nvPr/>
        </p:nvSpPr>
        <p:spPr>
          <a:xfrm>
            <a:off x="5806440" y="2176272"/>
            <a:ext cx="5074920" cy="274320"/>
          </a:xfrm>
          <a:prstGeom prst="rect">
            <a:avLst/>
          </a:prstGeom>
          <a:noFill/>
          <a:ln/>
        </p:spPr>
        <p:txBody>
          <a:bodyPr wrap="square" lIns="0" tIns="0" rIns="0" bIns="0" rtlCol="0" anchor="ctr">
            <a:normAutofit/>
          </a:bodyPr>
          <a:lstStyle/>
          <a:p>
            <a:pPr algn="l" indent="0" marL="0">
              <a:buNone/>
            </a:pPr>
            <a:r>
              <a:rPr lang="en-US" sz="1700" b="1" dirty="0">
                <a:solidFill>
                  <a:srgbClr val="151C26"/>
                </a:solidFill>
                <a:latin typeface="Noto Sans CJK KR" pitchFamily="34" charset="0"/>
                <a:ea typeface="Noto Sans CJK KR" pitchFamily="34" charset="-122"/>
                <a:cs typeface="Noto Sans CJK KR" pitchFamily="34" charset="-120"/>
              </a:rPr>
              <a:t>작업 맥락은 머릿속에 잠깐 올라와 있는 상태값이다</a:t>
            </a:r>
            <a:endParaRPr lang="en-US" sz="1700" dirty="0"/>
          </a:p>
        </p:txBody>
      </p:sp>
      <p:sp>
        <p:nvSpPr>
          <p:cNvPr id="9" name="Text 6"/>
          <p:cNvSpPr/>
          <p:nvPr/>
        </p:nvSpPr>
        <p:spPr>
          <a:xfrm>
            <a:off x="5870448" y="2788920"/>
            <a:ext cx="1005840" cy="201168"/>
          </a:xfrm>
          <a:prstGeom prst="rect">
            <a:avLst/>
          </a:prstGeom>
          <a:noFill/>
          <a:ln/>
        </p:spPr>
        <p:txBody>
          <a:bodyPr wrap="square" lIns="0" tIns="0" rIns="0" bIns="0" rtlCol="0" anchor="ctr">
            <a:normAutofit/>
          </a:bodyPr>
          <a:lstStyle/>
          <a:p>
            <a:pPr algn="l" indent="0" marL="0">
              <a:buNone/>
            </a:pPr>
            <a:r>
              <a:rPr lang="en-US" sz="1300" b="1" dirty="0">
                <a:solidFill>
                  <a:srgbClr val="235CFF"/>
                </a:solidFill>
                <a:latin typeface="Noto Sans CJK KR" pitchFamily="34" charset="0"/>
                <a:ea typeface="Noto Sans CJK KR" pitchFamily="34" charset="-122"/>
                <a:cs typeface="Noto Sans CJK KR" pitchFamily="34" charset="-120"/>
              </a:rPr>
              <a:t>목표</a:t>
            </a:r>
            <a:endParaRPr lang="en-US" sz="1300" dirty="0"/>
          </a:p>
        </p:txBody>
      </p:sp>
      <p:sp>
        <p:nvSpPr>
          <p:cNvPr id="10" name="Text 7"/>
          <p:cNvSpPr/>
          <p:nvPr/>
        </p:nvSpPr>
        <p:spPr>
          <a:xfrm>
            <a:off x="7059168" y="2788920"/>
            <a:ext cx="3840480" cy="201168"/>
          </a:xfrm>
          <a:prstGeom prst="rect">
            <a:avLst/>
          </a:prstGeom>
          <a:noFill/>
          <a:ln/>
        </p:spPr>
        <p:txBody>
          <a:bodyPr wrap="square" lIns="0" tIns="0" rIns="0" bIns="0" rtlCol="0" anchor="ctr">
            <a:normAutofit/>
          </a:bodyPr>
          <a:lstStyle/>
          <a:p>
            <a:pPr algn="l" indent="0" marL="0">
              <a:buNone/>
            </a:pPr>
            <a:r>
              <a:rPr lang="en-US" sz="1200" dirty="0">
                <a:solidFill>
                  <a:srgbClr val="151C26"/>
                </a:solidFill>
                <a:latin typeface="Noto Sans CJK KR" pitchFamily="34" charset="0"/>
                <a:ea typeface="Noto Sans CJK KR" pitchFamily="34" charset="-122"/>
                <a:cs typeface="Noto Sans CJK KR" pitchFamily="34" charset="-120"/>
              </a:rPr>
              <a:t>지금 무엇을 끝내려 했는가</a:t>
            </a:r>
            <a:endParaRPr lang="en-US" sz="1200" dirty="0"/>
          </a:p>
        </p:txBody>
      </p:sp>
      <p:sp>
        <p:nvSpPr>
          <p:cNvPr id="11" name="Text 8"/>
          <p:cNvSpPr/>
          <p:nvPr/>
        </p:nvSpPr>
        <p:spPr>
          <a:xfrm>
            <a:off x="5870448" y="3355848"/>
            <a:ext cx="1005840" cy="201168"/>
          </a:xfrm>
          <a:prstGeom prst="rect">
            <a:avLst/>
          </a:prstGeom>
          <a:noFill/>
          <a:ln/>
        </p:spPr>
        <p:txBody>
          <a:bodyPr wrap="square" lIns="0" tIns="0" rIns="0" bIns="0" rtlCol="0" anchor="ctr">
            <a:normAutofit/>
          </a:bodyPr>
          <a:lstStyle/>
          <a:p>
            <a:pPr algn="l" indent="0" marL="0">
              <a:buNone/>
            </a:pPr>
            <a:r>
              <a:rPr lang="en-US" sz="1300" b="1" dirty="0">
                <a:solidFill>
                  <a:srgbClr val="235CFF"/>
                </a:solidFill>
                <a:latin typeface="Noto Sans CJK KR" pitchFamily="34" charset="0"/>
                <a:ea typeface="Noto Sans CJK KR" pitchFamily="34" charset="-122"/>
                <a:cs typeface="Noto Sans CJK KR" pitchFamily="34" charset="-120"/>
              </a:rPr>
              <a:t>현재 단계</a:t>
            </a:r>
            <a:endParaRPr lang="en-US" sz="1300" dirty="0"/>
          </a:p>
        </p:txBody>
      </p:sp>
      <p:sp>
        <p:nvSpPr>
          <p:cNvPr id="12" name="Text 9"/>
          <p:cNvSpPr/>
          <p:nvPr/>
        </p:nvSpPr>
        <p:spPr>
          <a:xfrm>
            <a:off x="7059168" y="3355848"/>
            <a:ext cx="3840480" cy="201168"/>
          </a:xfrm>
          <a:prstGeom prst="rect">
            <a:avLst/>
          </a:prstGeom>
          <a:noFill/>
          <a:ln/>
        </p:spPr>
        <p:txBody>
          <a:bodyPr wrap="square" lIns="0" tIns="0" rIns="0" bIns="0" rtlCol="0" anchor="ctr">
            <a:normAutofit/>
          </a:bodyPr>
          <a:lstStyle/>
          <a:p>
            <a:pPr algn="l" indent="0" marL="0">
              <a:buNone/>
            </a:pPr>
            <a:r>
              <a:rPr lang="en-US" sz="1200" dirty="0">
                <a:solidFill>
                  <a:srgbClr val="151C26"/>
                </a:solidFill>
                <a:latin typeface="Noto Sans CJK KR" pitchFamily="34" charset="0"/>
                <a:ea typeface="Noto Sans CJK KR" pitchFamily="34" charset="-122"/>
                <a:cs typeface="Noto Sans CJK KR" pitchFamily="34" charset="-120"/>
              </a:rPr>
              <a:t>지금 어느 문장·문제를 보고 있었는가</a:t>
            </a:r>
            <a:endParaRPr lang="en-US" sz="1200" dirty="0"/>
          </a:p>
        </p:txBody>
      </p:sp>
      <p:sp>
        <p:nvSpPr>
          <p:cNvPr id="13" name="Text 10"/>
          <p:cNvSpPr/>
          <p:nvPr/>
        </p:nvSpPr>
        <p:spPr>
          <a:xfrm>
            <a:off x="5870448" y="3922776"/>
            <a:ext cx="1005840" cy="201168"/>
          </a:xfrm>
          <a:prstGeom prst="rect">
            <a:avLst/>
          </a:prstGeom>
          <a:noFill/>
          <a:ln/>
        </p:spPr>
        <p:txBody>
          <a:bodyPr wrap="square" lIns="0" tIns="0" rIns="0" bIns="0" rtlCol="0" anchor="ctr">
            <a:normAutofit/>
          </a:bodyPr>
          <a:lstStyle/>
          <a:p>
            <a:pPr algn="l" indent="0" marL="0">
              <a:buNone/>
            </a:pPr>
            <a:r>
              <a:rPr lang="en-US" sz="1300" b="1" dirty="0">
                <a:solidFill>
                  <a:srgbClr val="F7B955"/>
                </a:solidFill>
                <a:latin typeface="Noto Sans CJK KR" pitchFamily="34" charset="0"/>
                <a:ea typeface="Noto Sans CJK KR" pitchFamily="34" charset="-122"/>
                <a:cs typeface="Noto Sans CJK KR" pitchFamily="34" charset="-120"/>
              </a:rPr>
              <a:t>규칙</a:t>
            </a:r>
            <a:endParaRPr lang="en-US" sz="1300" dirty="0"/>
          </a:p>
        </p:txBody>
      </p:sp>
      <p:sp>
        <p:nvSpPr>
          <p:cNvPr id="14" name="Text 11"/>
          <p:cNvSpPr/>
          <p:nvPr/>
        </p:nvSpPr>
        <p:spPr>
          <a:xfrm>
            <a:off x="7059168" y="3922776"/>
            <a:ext cx="3840480" cy="201168"/>
          </a:xfrm>
          <a:prstGeom prst="rect">
            <a:avLst/>
          </a:prstGeom>
          <a:noFill/>
          <a:ln/>
        </p:spPr>
        <p:txBody>
          <a:bodyPr wrap="square" lIns="0" tIns="0" rIns="0" bIns="0" rtlCol="0" anchor="ctr">
            <a:normAutofit/>
          </a:bodyPr>
          <a:lstStyle/>
          <a:p>
            <a:pPr algn="l" indent="0" marL="0">
              <a:buNone/>
            </a:pPr>
            <a:r>
              <a:rPr lang="en-US" sz="1200" dirty="0">
                <a:solidFill>
                  <a:srgbClr val="151C26"/>
                </a:solidFill>
                <a:latin typeface="Noto Sans CJK KR" pitchFamily="34" charset="0"/>
                <a:ea typeface="Noto Sans CJK KR" pitchFamily="34" charset="-122"/>
                <a:cs typeface="Noto Sans CJK KR" pitchFamily="34" charset="-120"/>
              </a:rPr>
              <a:t>해야 하는 조건과 기준은 무엇인가</a:t>
            </a:r>
            <a:endParaRPr lang="en-US" sz="1200" dirty="0"/>
          </a:p>
        </p:txBody>
      </p:sp>
      <p:sp>
        <p:nvSpPr>
          <p:cNvPr id="15" name="Text 12"/>
          <p:cNvSpPr/>
          <p:nvPr/>
        </p:nvSpPr>
        <p:spPr>
          <a:xfrm>
            <a:off x="5870448" y="4489704"/>
            <a:ext cx="1005840" cy="201168"/>
          </a:xfrm>
          <a:prstGeom prst="rect">
            <a:avLst/>
          </a:prstGeom>
          <a:noFill/>
          <a:ln/>
        </p:spPr>
        <p:txBody>
          <a:bodyPr wrap="square" lIns="0" tIns="0" rIns="0" bIns="0" rtlCol="0" anchor="ctr">
            <a:normAutofit/>
          </a:bodyPr>
          <a:lstStyle/>
          <a:p>
            <a:pPr algn="l" indent="0" marL="0">
              <a:buNone/>
            </a:pPr>
            <a:r>
              <a:rPr lang="en-US" sz="1300" b="1" dirty="0">
                <a:solidFill>
                  <a:srgbClr val="F7B955"/>
                </a:solidFill>
                <a:latin typeface="Noto Sans CJK KR" pitchFamily="34" charset="0"/>
                <a:ea typeface="Noto Sans CJK KR" pitchFamily="34" charset="-122"/>
                <a:cs typeface="Noto Sans CJK KR" pitchFamily="34" charset="-120"/>
              </a:rPr>
              <a:t>임시 기억</a:t>
            </a:r>
            <a:endParaRPr lang="en-US" sz="1300" dirty="0"/>
          </a:p>
        </p:txBody>
      </p:sp>
      <p:sp>
        <p:nvSpPr>
          <p:cNvPr id="16" name="Text 13"/>
          <p:cNvSpPr/>
          <p:nvPr/>
        </p:nvSpPr>
        <p:spPr>
          <a:xfrm>
            <a:off x="7059168" y="4489704"/>
            <a:ext cx="3840480" cy="201168"/>
          </a:xfrm>
          <a:prstGeom prst="rect">
            <a:avLst/>
          </a:prstGeom>
          <a:noFill/>
          <a:ln/>
        </p:spPr>
        <p:txBody>
          <a:bodyPr wrap="square" lIns="0" tIns="0" rIns="0" bIns="0" rtlCol="0" anchor="ctr">
            <a:normAutofit/>
          </a:bodyPr>
          <a:lstStyle/>
          <a:p>
            <a:pPr algn="l" indent="0" marL="0">
              <a:buNone/>
            </a:pPr>
            <a:r>
              <a:rPr lang="en-US" sz="1200" dirty="0">
                <a:solidFill>
                  <a:srgbClr val="151C26"/>
                </a:solidFill>
                <a:latin typeface="Noto Sans CJK KR" pitchFamily="34" charset="0"/>
                <a:ea typeface="Noto Sans CJK KR" pitchFamily="34" charset="-122"/>
                <a:cs typeface="Noto Sans CJK KR" pitchFamily="34" charset="-120"/>
              </a:rPr>
              <a:t>방금 떠올린 생각과 다음 행동</a:t>
            </a:r>
            <a:endParaRPr lang="en-US" sz="1200" dirty="0"/>
          </a:p>
        </p:txBody>
      </p:sp>
      <p:sp>
        <p:nvSpPr>
          <p:cNvPr id="17" name="Text 14"/>
          <p:cNvSpPr/>
          <p:nvPr/>
        </p:nvSpPr>
        <p:spPr>
          <a:xfrm>
            <a:off x="5870448" y="5010912"/>
            <a:ext cx="3931920" cy="256032"/>
          </a:xfrm>
          <a:prstGeom prst="rect">
            <a:avLst/>
          </a:prstGeom>
          <a:noFill/>
          <a:ln/>
        </p:spPr>
        <p:txBody>
          <a:bodyPr wrap="square" lIns="0" tIns="0" rIns="0" bIns="0" rtlCol="0" anchor="ctr">
            <a:normAutofit/>
          </a:bodyPr>
          <a:lstStyle/>
          <a:p>
            <a:pPr algn="l" indent="0" marL="0">
              <a:buNone/>
            </a:pPr>
            <a:r>
              <a:rPr lang="en-US" sz="1600" b="1" dirty="0">
                <a:solidFill>
                  <a:srgbClr val="235CFF"/>
                </a:solidFill>
                <a:latin typeface="Noto Sans CJK KR" pitchFamily="34" charset="0"/>
                <a:ea typeface="Noto Sans CJK KR" pitchFamily="34" charset="-122"/>
                <a:cs typeface="Noto Sans CJK KR" pitchFamily="34" charset="-120"/>
              </a:rPr>
              <a:t>알림은 이 네 가지를 한 번에 흔든다.</a:t>
            </a:r>
            <a:endParaRPr lang="en-US" sz="1600" dirty="0"/>
          </a:p>
        </p:txBody>
      </p:sp>
      <p:sp>
        <p:nvSpPr>
          <p:cNvPr id="18" name="Text 15"/>
          <p:cNvSpPr/>
          <p:nvPr/>
        </p:nvSpPr>
        <p:spPr>
          <a:xfrm>
            <a:off x="658368" y="6528816"/>
            <a:ext cx="10607040" cy="146304"/>
          </a:xfrm>
          <a:prstGeom prst="rect">
            <a:avLst/>
          </a:prstGeom>
          <a:noFill/>
          <a:ln/>
        </p:spPr>
        <p:txBody>
          <a:bodyPr wrap="square" lIns="0" tIns="0" rIns="0" bIns="0" rtlCol="0" anchor="ctr">
            <a:normAutofit/>
          </a:bodyPr>
          <a:lstStyle/>
          <a:p>
            <a:pPr algn="l" indent="0" marL="0">
              <a:buNone/>
            </a:pPr>
            <a:r>
              <a:rPr lang="en-US" sz="650" dirty="0">
                <a:solidFill>
                  <a:srgbClr val="9AA1AC"/>
                </a:solidFill>
                <a:latin typeface="Noto Sans CJK KR" pitchFamily="34" charset="0"/>
                <a:ea typeface="Noto Sans CJK KR" pitchFamily="34" charset="-122"/>
                <a:cs typeface="Noto Sans CJK KR" pitchFamily="34" charset="-120"/>
              </a:rPr>
              <a:t>개념 기반 요약: working memory / task set / cognitive resources</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CF7"/>
        </a:solidFill>
      </p:bgPr>
    </p:bg>
    <p:spTree>
      <p:nvGrpSpPr>
        <p:cNvPr id="1" name=""/>
        <p:cNvGrpSpPr/>
        <p:nvPr/>
      </p:nvGrpSpPr>
      <p:grpSpPr>
        <a:xfrm>
          <a:off x="0" y="0"/>
          <a:ext cx="0" cy="0"/>
          <a:chOff x="0" y="0"/>
          <a:chExt cx="0" cy="0"/>
        </a:xfrm>
      </p:grpSpPr>
      <p:sp>
        <p:nvSpPr>
          <p:cNvPr id="2" name="Text 0"/>
          <p:cNvSpPr/>
          <p:nvPr/>
        </p:nvSpPr>
        <p:spPr>
          <a:xfrm>
            <a:off x="640080" y="347472"/>
            <a:ext cx="3840480" cy="219456"/>
          </a:xfrm>
          <a:prstGeom prst="rect">
            <a:avLst/>
          </a:prstGeom>
          <a:noFill/>
          <a:ln/>
        </p:spPr>
        <p:txBody>
          <a:bodyPr wrap="square" lIns="0" tIns="0" rIns="0" bIns="0" rtlCol="0" anchor="ctr">
            <a:normAutofit/>
          </a:bodyPr>
          <a:lstStyle/>
          <a:p>
            <a:pPr algn="l" indent="0" marL="0">
              <a:buNone/>
            </a:pPr>
            <a:r>
              <a:rPr lang="en-US" sz="800" b="1" dirty="0">
                <a:solidFill>
                  <a:srgbClr val="235CFF"/>
                </a:solidFill>
                <a:latin typeface="Noto Sans CJK KR" pitchFamily="34" charset="0"/>
                <a:ea typeface="Noto Sans CJK KR" pitchFamily="34" charset="-122"/>
                <a:cs typeface="Noto Sans CJK KR" pitchFamily="34" charset="-120"/>
              </a:rPr>
              <a:t>MECHANISM</a:t>
            </a:r>
            <a:endParaRPr lang="en-US" sz="800" dirty="0"/>
          </a:p>
        </p:txBody>
      </p:sp>
      <p:sp>
        <p:nvSpPr>
          <p:cNvPr id="3" name="Text 1"/>
          <p:cNvSpPr/>
          <p:nvPr/>
        </p:nvSpPr>
        <p:spPr>
          <a:xfrm>
            <a:off x="11109960" y="320040"/>
            <a:ext cx="548640" cy="201168"/>
          </a:xfrm>
          <a:prstGeom prst="rect">
            <a:avLst/>
          </a:prstGeom>
          <a:noFill/>
          <a:ln/>
        </p:spPr>
        <p:txBody>
          <a:bodyPr wrap="square" lIns="0" tIns="0" rIns="0" bIns="0" rtlCol="0" anchor="ctr">
            <a:normAutofit/>
          </a:bodyPr>
          <a:lstStyle/>
          <a:p>
            <a:pPr algn="r" indent="0" marL="0">
              <a:buNone/>
            </a:pPr>
            <a:r>
              <a:rPr lang="en-US" sz="800" b="1" dirty="0">
                <a:solidFill>
                  <a:srgbClr val="606A7A"/>
                </a:solidFill>
                <a:latin typeface="Noto Sans CJK KR" pitchFamily="34" charset="0"/>
                <a:ea typeface="Noto Sans CJK KR" pitchFamily="34" charset="-122"/>
                <a:cs typeface="Noto Sans CJK KR" pitchFamily="34" charset="-120"/>
              </a:rPr>
              <a:t>04</a:t>
            </a:r>
            <a:endParaRPr lang="en-US" sz="800" dirty="0"/>
          </a:p>
        </p:txBody>
      </p:sp>
      <p:sp>
        <p:nvSpPr>
          <p:cNvPr id="4" name="Text 2"/>
          <p:cNvSpPr/>
          <p:nvPr/>
        </p:nvSpPr>
        <p:spPr>
          <a:xfrm>
            <a:off x="640080" y="713232"/>
            <a:ext cx="8869680" cy="676656"/>
          </a:xfrm>
          <a:prstGeom prst="rect">
            <a:avLst/>
          </a:prstGeom>
          <a:noFill/>
          <a:ln/>
        </p:spPr>
        <p:txBody>
          <a:bodyPr wrap="square" lIns="0" tIns="0" rIns="0" bIns="0" rtlCol="0" anchor="ctr">
            <a:normAutofit/>
          </a:bodyPr>
          <a:lstStyle/>
          <a:p>
            <a:pPr algn="l" indent="0" marL="0">
              <a:buNone/>
            </a:pPr>
            <a:r>
              <a:rPr lang="en-US" sz="3000" b="1" dirty="0">
                <a:solidFill>
                  <a:srgbClr val="151C26"/>
                </a:solidFill>
                <a:latin typeface="Noto Sans CJK KR" pitchFamily="34" charset="0"/>
                <a:ea typeface="Noto Sans CJK KR" pitchFamily="34" charset="-122"/>
                <a:cs typeface="Noto Sans CJK KR" pitchFamily="34" charset="-120"/>
              </a:rPr>
              <a:t>알림이 집중을 끊는 4단계</a:t>
            </a:r>
            <a:endParaRPr lang="en-US" sz="3000" dirty="0"/>
          </a:p>
        </p:txBody>
      </p:sp>
      <p:sp>
        <p:nvSpPr>
          <p:cNvPr id="5" name="Text 3"/>
          <p:cNvSpPr/>
          <p:nvPr/>
        </p:nvSpPr>
        <p:spPr>
          <a:xfrm>
            <a:off x="658368" y="1481328"/>
            <a:ext cx="7315200" cy="329184"/>
          </a:xfrm>
          <a:prstGeom prst="rect">
            <a:avLst/>
          </a:prstGeom>
          <a:noFill/>
          <a:ln/>
        </p:spPr>
        <p:txBody>
          <a:bodyPr wrap="square" lIns="0" tIns="0" rIns="0" bIns="0" rtlCol="0" anchor="ctr">
            <a:normAutofit/>
          </a:bodyPr>
          <a:lstStyle/>
          <a:p>
            <a:pPr algn="l" indent="0" marL="0">
              <a:buNone/>
            </a:pPr>
            <a:r>
              <a:rPr lang="en-US" sz="1250" dirty="0">
                <a:solidFill>
                  <a:srgbClr val="606A7A"/>
                </a:solidFill>
                <a:latin typeface="Noto Sans CJK KR" pitchFamily="34" charset="0"/>
                <a:ea typeface="Noto Sans CJK KR" pitchFamily="34" charset="-122"/>
                <a:cs typeface="Noto Sans CJK KR" pitchFamily="34" charset="-120"/>
              </a:rPr>
              <a:t>핵심은 “알림을 본 순간”보다, 다시 원래 일로 돌아오는 과정이다.</a:t>
            </a:r>
            <a:endParaRPr lang="en-US" sz="1250" dirty="0"/>
          </a:p>
        </p:txBody>
      </p:sp>
      <p:pic>
        <p:nvPicPr>
          <p:cNvPr id="6" name="Image 0" descr="/mnt/data/wide_clean_vector_illustration_infographic_style.png">    </p:cNvPr>
          <p:cNvPicPr>
            <a:picLocks noChangeAspect="1"/>
          </p:cNvPicPr>
          <p:nvPr/>
        </p:nvPicPr>
        <p:blipFill>
          <a:blip r:embed="rId1"/>
          <a:srcRect l="0" r="-110358" t="4000" b="1000"/>
          <a:stretch/>
        </p:blipFill>
        <p:spPr>
          <a:xfrm>
            <a:off x="603504" y="1874520"/>
            <a:ext cx="10972800" cy="2788920"/>
          </a:xfrm>
          <a:prstGeom prst="rect">
            <a:avLst/>
          </a:prstGeom>
        </p:spPr>
      </p:pic>
      <p:sp>
        <p:nvSpPr>
          <p:cNvPr id="7" name="Text 4"/>
          <p:cNvSpPr/>
          <p:nvPr/>
        </p:nvSpPr>
        <p:spPr>
          <a:xfrm>
            <a:off x="777240" y="5138928"/>
            <a:ext cx="320040" cy="228600"/>
          </a:xfrm>
          <a:prstGeom prst="rect">
            <a:avLst/>
          </a:prstGeom>
          <a:noFill/>
          <a:ln/>
        </p:spPr>
        <p:txBody>
          <a:bodyPr wrap="square" lIns="0" tIns="0" rIns="0" bIns="0" rtlCol="0" anchor="ctr">
            <a:normAutofit/>
          </a:bodyPr>
          <a:lstStyle/>
          <a:p>
            <a:pPr algn="l" indent="0" marL="0">
              <a:buNone/>
            </a:pPr>
            <a:r>
              <a:rPr lang="en-US" sz="1600" b="1" dirty="0">
                <a:solidFill>
                  <a:srgbClr val="235CFF"/>
                </a:solidFill>
                <a:latin typeface="Noto Sans CJK KR" pitchFamily="34" charset="0"/>
                <a:ea typeface="Noto Sans CJK KR" pitchFamily="34" charset="-122"/>
                <a:cs typeface="Noto Sans CJK KR" pitchFamily="34" charset="-120"/>
              </a:rPr>
              <a:t>1</a:t>
            </a:r>
            <a:endParaRPr lang="en-US" sz="1600" dirty="0"/>
          </a:p>
        </p:txBody>
      </p:sp>
      <p:sp>
        <p:nvSpPr>
          <p:cNvPr id="8" name="Text 5"/>
          <p:cNvSpPr/>
          <p:nvPr/>
        </p:nvSpPr>
        <p:spPr>
          <a:xfrm>
            <a:off x="1188720" y="5102352"/>
            <a:ext cx="1325880" cy="228600"/>
          </a:xfrm>
          <a:prstGeom prst="rect">
            <a:avLst/>
          </a:prstGeom>
          <a:noFill/>
          <a:ln/>
        </p:spPr>
        <p:txBody>
          <a:bodyPr wrap="square" lIns="0" tIns="0" rIns="0" bIns="0" rtlCol="0" anchor="ctr">
            <a:normAutofit/>
          </a:bodyPr>
          <a:lstStyle/>
          <a:p>
            <a:pPr algn="l" indent="0" marL="0">
              <a:buNone/>
            </a:pPr>
            <a:r>
              <a:rPr lang="en-US" sz="1500" b="1" dirty="0">
                <a:solidFill>
                  <a:srgbClr val="151C26"/>
                </a:solidFill>
                <a:latin typeface="Noto Sans CJK KR" pitchFamily="34" charset="0"/>
                <a:ea typeface="Noto Sans CJK KR" pitchFamily="34" charset="-122"/>
                <a:cs typeface="Noto Sans CJK KR" pitchFamily="34" charset="-120"/>
              </a:rPr>
              <a:t>알림 발생</a:t>
            </a:r>
            <a:endParaRPr lang="en-US" sz="1500" dirty="0"/>
          </a:p>
        </p:txBody>
      </p:sp>
      <p:sp>
        <p:nvSpPr>
          <p:cNvPr id="9" name="Text 6"/>
          <p:cNvSpPr/>
          <p:nvPr/>
        </p:nvSpPr>
        <p:spPr>
          <a:xfrm>
            <a:off x="1188720" y="5431536"/>
            <a:ext cx="1874520" cy="182880"/>
          </a:xfrm>
          <a:prstGeom prst="rect">
            <a:avLst/>
          </a:prstGeom>
          <a:noFill/>
          <a:ln/>
        </p:spPr>
        <p:txBody>
          <a:bodyPr wrap="square" lIns="0" tIns="0" rIns="0" bIns="0" rtlCol="0" anchor="ctr">
            <a:normAutofit/>
          </a:bodyPr>
          <a:lstStyle/>
          <a:p>
            <a:pPr algn="l" indent="0" marL="0">
              <a:buNone/>
            </a:pPr>
            <a:r>
              <a:rPr lang="en-US" sz="900" dirty="0">
                <a:solidFill>
                  <a:srgbClr val="606A7A"/>
                </a:solidFill>
                <a:latin typeface="Noto Sans CJK KR" pitchFamily="34" charset="0"/>
                <a:ea typeface="Noto Sans CJK KR" pitchFamily="34" charset="-122"/>
                <a:cs typeface="Noto Sans CJK KR" pitchFamily="34" charset="-120"/>
              </a:rPr>
              <a:t>소리·진동·팝업</a:t>
            </a:r>
            <a:endParaRPr lang="en-US" sz="900" dirty="0"/>
          </a:p>
        </p:txBody>
      </p:sp>
      <p:sp>
        <p:nvSpPr>
          <p:cNvPr id="10" name="Text 7"/>
          <p:cNvSpPr/>
          <p:nvPr/>
        </p:nvSpPr>
        <p:spPr>
          <a:xfrm>
            <a:off x="3566160" y="5138928"/>
            <a:ext cx="320040" cy="228600"/>
          </a:xfrm>
          <a:prstGeom prst="rect">
            <a:avLst/>
          </a:prstGeom>
          <a:noFill/>
          <a:ln/>
        </p:spPr>
        <p:txBody>
          <a:bodyPr wrap="square" lIns="0" tIns="0" rIns="0" bIns="0" rtlCol="0" anchor="ctr">
            <a:normAutofit/>
          </a:bodyPr>
          <a:lstStyle/>
          <a:p>
            <a:pPr algn="l" indent="0" marL="0">
              <a:buNone/>
            </a:pPr>
            <a:r>
              <a:rPr lang="en-US" sz="1600" b="1" dirty="0">
                <a:solidFill>
                  <a:srgbClr val="235CFF"/>
                </a:solidFill>
                <a:latin typeface="Noto Sans CJK KR" pitchFamily="34" charset="0"/>
                <a:ea typeface="Noto Sans CJK KR" pitchFamily="34" charset="-122"/>
                <a:cs typeface="Noto Sans CJK KR" pitchFamily="34" charset="-120"/>
              </a:rPr>
              <a:t>2</a:t>
            </a:r>
            <a:endParaRPr lang="en-US" sz="1600" dirty="0"/>
          </a:p>
        </p:txBody>
      </p:sp>
      <p:sp>
        <p:nvSpPr>
          <p:cNvPr id="11" name="Text 8"/>
          <p:cNvSpPr/>
          <p:nvPr/>
        </p:nvSpPr>
        <p:spPr>
          <a:xfrm>
            <a:off x="3977640" y="5102352"/>
            <a:ext cx="1325880" cy="228600"/>
          </a:xfrm>
          <a:prstGeom prst="rect">
            <a:avLst/>
          </a:prstGeom>
          <a:noFill/>
          <a:ln/>
        </p:spPr>
        <p:txBody>
          <a:bodyPr wrap="square" lIns="0" tIns="0" rIns="0" bIns="0" rtlCol="0" anchor="ctr">
            <a:normAutofit/>
          </a:bodyPr>
          <a:lstStyle/>
          <a:p>
            <a:pPr algn="l" indent="0" marL="0">
              <a:buNone/>
            </a:pPr>
            <a:r>
              <a:rPr lang="en-US" sz="1500" b="1" dirty="0">
                <a:solidFill>
                  <a:srgbClr val="151C26"/>
                </a:solidFill>
                <a:latin typeface="Noto Sans CJK KR" pitchFamily="34" charset="0"/>
                <a:ea typeface="Noto Sans CJK KR" pitchFamily="34" charset="-122"/>
                <a:cs typeface="Noto Sans CJK KR" pitchFamily="34" charset="-120"/>
              </a:rPr>
              <a:t>주의 포획</a:t>
            </a:r>
            <a:endParaRPr lang="en-US" sz="1500" dirty="0"/>
          </a:p>
        </p:txBody>
      </p:sp>
      <p:sp>
        <p:nvSpPr>
          <p:cNvPr id="12" name="Text 9"/>
          <p:cNvSpPr/>
          <p:nvPr/>
        </p:nvSpPr>
        <p:spPr>
          <a:xfrm>
            <a:off x="3977640" y="5431536"/>
            <a:ext cx="1874520" cy="182880"/>
          </a:xfrm>
          <a:prstGeom prst="rect">
            <a:avLst/>
          </a:prstGeom>
          <a:noFill/>
          <a:ln/>
        </p:spPr>
        <p:txBody>
          <a:bodyPr wrap="square" lIns="0" tIns="0" rIns="0" bIns="0" rtlCol="0" anchor="ctr">
            <a:normAutofit/>
          </a:bodyPr>
          <a:lstStyle/>
          <a:p>
            <a:pPr algn="l" indent="0" marL="0">
              <a:buNone/>
            </a:pPr>
            <a:r>
              <a:rPr lang="en-US" sz="900" dirty="0">
                <a:solidFill>
                  <a:srgbClr val="606A7A"/>
                </a:solidFill>
                <a:latin typeface="Noto Sans CJK KR" pitchFamily="34" charset="0"/>
                <a:ea typeface="Noto Sans CJK KR" pitchFamily="34" charset="-122"/>
                <a:cs typeface="Noto Sans CJK KR" pitchFamily="34" charset="-120"/>
              </a:rPr>
              <a:t>무슨 일인지 궁금해짐</a:t>
            </a:r>
            <a:endParaRPr lang="en-US" sz="900" dirty="0"/>
          </a:p>
        </p:txBody>
      </p:sp>
      <p:sp>
        <p:nvSpPr>
          <p:cNvPr id="13" name="Text 10"/>
          <p:cNvSpPr/>
          <p:nvPr/>
        </p:nvSpPr>
        <p:spPr>
          <a:xfrm>
            <a:off x="6355080" y="5138928"/>
            <a:ext cx="320040" cy="228600"/>
          </a:xfrm>
          <a:prstGeom prst="rect">
            <a:avLst/>
          </a:prstGeom>
          <a:noFill/>
          <a:ln/>
        </p:spPr>
        <p:txBody>
          <a:bodyPr wrap="square" lIns="0" tIns="0" rIns="0" bIns="0" rtlCol="0" anchor="ctr">
            <a:normAutofit/>
          </a:bodyPr>
          <a:lstStyle/>
          <a:p>
            <a:pPr algn="l" indent="0" marL="0">
              <a:buNone/>
            </a:pPr>
            <a:r>
              <a:rPr lang="en-US" sz="1600" b="1" dirty="0">
                <a:solidFill>
                  <a:srgbClr val="235CFF"/>
                </a:solidFill>
                <a:latin typeface="Noto Sans CJK KR" pitchFamily="34" charset="0"/>
                <a:ea typeface="Noto Sans CJK KR" pitchFamily="34" charset="-122"/>
                <a:cs typeface="Noto Sans CJK KR" pitchFamily="34" charset="-120"/>
              </a:rPr>
              <a:t>3</a:t>
            </a:r>
            <a:endParaRPr lang="en-US" sz="1600" dirty="0"/>
          </a:p>
        </p:txBody>
      </p:sp>
      <p:sp>
        <p:nvSpPr>
          <p:cNvPr id="14" name="Text 11"/>
          <p:cNvSpPr/>
          <p:nvPr/>
        </p:nvSpPr>
        <p:spPr>
          <a:xfrm>
            <a:off x="6766560" y="5102352"/>
            <a:ext cx="1325880" cy="228600"/>
          </a:xfrm>
          <a:prstGeom prst="rect">
            <a:avLst/>
          </a:prstGeom>
          <a:noFill/>
          <a:ln/>
        </p:spPr>
        <p:txBody>
          <a:bodyPr wrap="square" lIns="0" tIns="0" rIns="0" bIns="0" rtlCol="0" anchor="ctr">
            <a:normAutofit/>
          </a:bodyPr>
          <a:lstStyle/>
          <a:p>
            <a:pPr algn="l" indent="0" marL="0">
              <a:buNone/>
            </a:pPr>
            <a:r>
              <a:rPr lang="en-US" sz="1500" b="1" dirty="0">
                <a:solidFill>
                  <a:srgbClr val="151C26"/>
                </a:solidFill>
                <a:latin typeface="Noto Sans CJK KR" pitchFamily="34" charset="0"/>
                <a:ea typeface="Noto Sans CJK KR" pitchFamily="34" charset="-122"/>
                <a:cs typeface="Noto Sans CJK KR" pitchFamily="34" charset="-120"/>
              </a:rPr>
              <a:t>과제 전환</a:t>
            </a:r>
            <a:endParaRPr lang="en-US" sz="1500" dirty="0"/>
          </a:p>
        </p:txBody>
      </p:sp>
      <p:sp>
        <p:nvSpPr>
          <p:cNvPr id="15" name="Text 12"/>
          <p:cNvSpPr/>
          <p:nvPr/>
        </p:nvSpPr>
        <p:spPr>
          <a:xfrm>
            <a:off x="6766560" y="5431536"/>
            <a:ext cx="1874520" cy="182880"/>
          </a:xfrm>
          <a:prstGeom prst="rect">
            <a:avLst/>
          </a:prstGeom>
          <a:noFill/>
          <a:ln/>
        </p:spPr>
        <p:txBody>
          <a:bodyPr wrap="square" lIns="0" tIns="0" rIns="0" bIns="0" rtlCol="0" anchor="ctr">
            <a:normAutofit/>
          </a:bodyPr>
          <a:lstStyle/>
          <a:p>
            <a:pPr algn="l" indent="0" marL="0">
              <a:buNone/>
            </a:pPr>
            <a:r>
              <a:rPr lang="en-US" sz="900" dirty="0">
                <a:solidFill>
                  <a:srgbClr val="606A7A"/>
                </a:solidFill>
                <a:latin typeface="Noto Sans CJK KR" pitchFamily="34" charset="0"/>
                <a:ea typeface="Noto Sans CJK KR" pitchFamily="34" charset="-122"/>
                <a:cs typeface="Noto Sans CJK KR" pitchFamily="34" charset="-120"/>
              </a:rPr>
              <a:t>작업 ↔ 메시지 전환</a:t>
            </a:r>
            <a:endParaRPr lang="en-US" sz="900" dirty="0"/>
          </a:p>
        </p:txBody>
      </p:sp>
      <p:sp>
        <p:nvSpPr>
          <p:cNvPr id="16" name="Text 13"/>
          <p:cNvSpPr/>
          <p:nvPr/>
        </p:nvSpPr>
        <p:spPr>
          <a:xfrm>
            <a:off x="9144000" y="5138928"/>
            <a:ext cx="320040" cy="228600"/>
          </a:xfrm>
          <a:prstGeom prst="rect">
            <a:avLst/>
          </a:prstGeom>
          <a:noFill/>
          <a:ln/>
        </p:spPr>
        <p:txBody>
          <a:bodyPr wrap="square" lIns="0" tIns="0" rIns="0" bIns="0" rtlCol="0" anchor="ctr">
            <a:normAutofit/>
          </a:bodyPr>
          <a:lstStyle/>
          <a:p>
            <a:pPr algn="l" indent="0" marL="0">
              <a:buNone/>
            </a:pPr>
            <a:r>
              <a:rPr lang="en-US" sz="1600" b="1" dirty="0">
                <a:solidFill>
                  <a:srgbClr val="235CFF"/>
                </a:solidFill>
                <a:latin typeface="Noto Sans CJK KR" pitchFamily="34" charset="0"/>
                <a:ea typeface="Noto Sans CJK KR" pitchFamily="34" charset="-122"/>
                <a:cs typeface="Noto Sans CJK KR" pitchFamily="34" charset="-120"/>
              </a:rPr>
              <a:t>4</a:t>
            </a:r>
            <a:endParaRPr lang="en-US" sz="1600" dirty="0"/>
          </a:p>
        </p:txBody>
      </p:sp>
      <p:sp>
        <p:nvSpPr>
          <p:cNvPr id="17" name="Text 14"/>
          <p:cNvSpPr/>
          <p:nvPr/>
        </p:nvSpPr>
        <p:spPr>
          <a:xfrm>
            <a:off x="9555480" y="5102352"/>
            <a:ext cx="1325880" cy="228600"/>
          </a:xfrm>
          <a:prstGeom prst="rect">
            <a:avLst/>
          </a:prstGeom>
          <a:noFill/>
          <a:ln/>
        </p:spPr>
        <p:txBody>
          <a:bodyPr wrap="square" lIns="0" tIns="0" rIns="0" bIns="0" rtlCol="0" anchor="ctr">
            <a:normAutofit/>
          </a:bodyPr>
          <a:lstStyle/>
          <a:p>
            <a:pPr algn="l" indent="0" marL="0">
              <a:buNone/>
            </a:pPr>
            <a:r>
              <a:rPr lang="en-US" sz="1500" b="1" dirty="0">
                <a:solidFill>
                  <a:srgbClr val="151C26"/>
                </a:solidFill>
                <a:latin typeface="Noto Sans CJK KR" pitchFamily="34" charset="0"/>
                <a:ea typeface="Noto Sans CJK KR" pitchFamily="34" charset="-122"/>
                <a:cs typeface="Noto Sans CJK KR" pitchFamily="34" charset="-120"/>
              </a:rPr>
              <a:t>맥락 복구</a:t>
            </a:r>
            <a:endParaRPr lang="en-US" sz="1500" dirty="0"/>
          </a:p>
        </p:txBody>
      </p:sp>
      <p:sp>
        <p:nvSpPr>
          <p:cNvPr id="18" name="Text 15"/>
          <p:cNvSpPr/>
          <p:nvPr/>
        </p:nvSpPr>
        <p:spPr>
          <a:xfrm>
            <a:off x="9555480" y="5431536"/>
            <a:ext cx="1874520" cy="182880"/>
          </a:xfrm>
          <a:prstGeom prst="rect">
            <a:avLst/>
          </a:prstGeom>
          <a:noFill/>
          <a:ln/>
        </p:spPr>
        <p:txBody>
          <a:bodyPr wrap="square" lIns="0" tIns="0" rIns="0" bIns="0" rtlCol="0" anchor="ctr">
            <a:normAutofit/>
          </a:bodyPr>
          <a:lstStyle/>
          <a:p>
            <a:pPr algn="l" indent="0" marL="0">
              <a:buNone/>
            </a:pPr>
            <a:r>
              <a:rPr lang="en-US" sz="900" dirty="0">
                <a:solidFill>
                  <a:srgbClr val="606A7A"/>
                </a:solidFill>
                <a:latin typeface="Noto Sans CJK KR" pitchFamily="34" charset="0"/>
                <a:ea typeface="Noto Sans CJK KR" pitchFamily="34" charset="-122"/>
                <a:cs typeface="Noto Sans CJK KR" pitchFamily="34" charset="-120"/>
              </a:rPr>
              <a:t>원래 흐름 재구성</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0E8"/>
        </a:solidFill>
      </p:bgPr>
    </p:bg>
    <p:spTree>
      <p:nvGrpSpPr>
        <p:cNvPr id="1" name=""/>
        <p:cNvGrpSpPr/>
        <p:nvPr/>
      </p:nvGrpSpPr>
      <p:grpSpPr>
        <a:xfrm>
          <a:off x="0" y="0"/>
          <a:ext cx="0" cy="0"/>
          <a:chOff x="0" y="0"/>
          <a:chExt cx="0" cy="0"/>
        </a:xfrm>
      </p:grpSpPr>
      <p:sp>
        <p:nvSpPr>
          <p:cNvPr id="2" name="Text 0"/>
          <p:cNvSpPr/>
          <p:nvPr/>
        </p:nvSpPr>
        <p:spPr>
          <a:xfrm>
            <a:off x="640080" y="347472"/>
            <a:ext cx="3840480" cy="219456"/>
          </a:xfrm>
          <a:prstGeom prst="rect">
            <a:avLst/>
          </a:prstGeom>
          <a:noFill/>
          <a:ln/>
        </p:spPr>
        <p:txBody>
          <a:bodyPr wrap="square" lIns="0" tIns="0" rIns="0" bIns="0" rtlCol="0" anchor="ctr">
            <a:normAutofit/>
          </a:bodyPr>
          <a:lstStyle/>
          <a:p>
            <a:pPr algn="l" indent="0" marL="0">
              <a:buNone/>
            </a:pPr>
            <a:r>
              <a:rPr lang="en-US" sz="800" b="1" dirty="0">
                <a:solidFill>
                  <a:srgbClr val="235CFF"/>
                </a:solidFill>
                <a:latin typeface="Noto Sans CJK KR" pitchFamily="34" charset="0"/>
                <a:ea typeface="Noto Sans CJK KR" pitchFamily="34" charset="-122"/>
                <a:cs typeface="Noto Sans CJK KR" pitchFamily="34" charset="-120"/>
              </a:rPr>
              <a:t>EVIDENCE 01</a:t>
            </a:r>
            <a:endParaRPr lang="en-US" sz="800" dirty="0"/>
          </a:p>
        </p:txBody>
      </p:sp>
      <p:sp>
        <p:nvSpPr>
          <p:cNvPr id="3" name="Text 1"/>
          <p:cNvSpPr/>
          <p:nvPr/>
        </p:nvSpPr>
        <p:spPr>
          <a:xfrm>
            <a:off x="11109960" y="320040"/>
            <a:ext cx="548640" cy="201168"/>
          </a:xfrm>
          <a:prstGeom prst="rect">
            <a:avLst/>
          </a:prstGeom>
          <a:noFill/>
          <a:ln/>
        </p:spPr>
        <p:txBody>
          <a:bodyPr wrap="square" lIns="0" tIns="0" rIns="0" bIns="0" rtlCol="0" anchor="ctr">
            <a:normAutofit/>
          </a:bodyPr>
          <a:lstStyle/>
          <a:p>
            <a:pPr algn="r" indent="0" marL="0">
              <a:buNone/>
            </a:pPr>
            <a:r>
              <a:rPr lang="en-US" sz="800" b="1" dirty="0">
                <a:solidFill>
                  <a:srgbClr val="606A7A"/>
                </a:solidFill>
                <a:latin typeface="Noto Sans CJK KR" pitchFamily="34" charset="0"/>
                <a:ea typeface="Noto Sans CJK KR" pitchFamily="34" charset="-122"/>
                <a:cs typeface="Noto Sans CJK KR" pitchFamily="34" charset="-120"/>
              </a:rPr>
              <a:t>05</a:t>
            </a:r>
            <a:endParaRPr lang="en-US" sz="800" dirty="0"/>
          </a:p>
        </p:txBody>
      </p:sp>
      <p:sp>
        <p:nvSpPr>
          <p:cNvPr id="4" name="Text 2"/>
          <p:cNvSpPr/>
          <p:nvPr/>
        </p:nvSpPr>
        <p:spPr>
          <a:xfrm>
            <a:off x="640080" y="713232"/>
            <a:ext cx="8869680" cy="676656"/>
          </a:xfrm>
          <a:prstGeom prst="rect">
            <a:avLst/>
          </a:prstGeom>
          <a:noFill/>
          <a:ln/>
        </p:spPr>
        <p:txBody>
          <a:bodyPr wrap="square" lIns="0" tIns="0" rIns="0" bIns="0" rtlCol="0" anchor="ctr">
            <a:normAutofit/>
          </a:bodyPr>
          <a:lstStyle/>
          <a:p>
            <a:pPr algn="l" indent="0" marL="0">
              <a:buNone/>
            </a:pPr>
            <a:r>
              <a:rPr lang="en-US" sz="3000" b="1" dirty="0">
                <a:solidFill>
                  <a:srgbClr val="151C26"/>
                </a:solidFill>
                <a:latin typeface="Noto Sans CJK KR" pitchFamily="34" charset="0"/>
                <a:ea typeface="Noto Sans CJK KR" pitchFamily="34" charset="-122"/>
                <a:cs typeface="Noto Sans CJK KR" pitchFamily="34" charset="-120"/>
              </a:rPr>
              <a:t>알림은 확인하지 않아도 방해된다</a:t>
            </a:r>
            <a:endParaRPr lang="en-US" sz="3000" dirty="0"/>
          </a:p>
        </p:txBody>
      </p:sp>
      <p:sp>
        <p:nvSpPr>
          <p:cNvPr id="5" name="Text 3"/>
          <p:cNvSpPr/>
          <p:nvPr/>
        </p:nvSpPr>
        <p:spPr>
          <a:xfrm>
            <a:off x="658368" y="1481328"/>
            <a:ext cx="7315200" cy="329184"/>
          </a:xfrm>
          <a:prstGeom prst="rect">
            <a:avLst/>
          </a:prstGeom>
          <a:noFill/>
          <a:ln/>
        </p:spPr>
        <p:txBody>
          <a:bodyPr wrap="square" lIns="0" tIns="0" rIns="0" bIns="0" rtlCol="0" anchor="ctr">
            <a:normAutofit/>
          </a:bodyPr>
          <a:lstStyle/>
          <a:p>
            <a:pPr algn="l" indent="0" marL="0">
              <a:buNone/>
            </a:pPr>
            <a:r>
              <a:rPr lang="en-US" sz="1250" dirty="0">
                <a:solidFill>
                  <a:srgbClr val="606A7A"/>
                </a:solidFill>
                <a:latin typeface="Noto Sans CJK KR" pitchFamily="34" charset="0"/>
                <a:ea typeface="Noto Sans CJK KR" pitchFamily="34" charset="-122"/>
                <a:cs typeface="Noto Sans CJK KR" pitchFamily="34" charset="-120"/>
              </a:rPr>
              <a:t>짧은 알림 자체가 과제와 무관한 생각을 만들 수 있다.</a:t>
            </a:r>
            <a:endParaRPr lang="en-US" sz="1250" dirty="0"/>
          </a:p>
        </p:txBody>
      </p:sp>
      <p:sp>
        <p:nvSpPr>
          <p:cNvPr id="6" name="Text 4"/>
          <p:cNvSpPr/>
          <p:nvPr/>
        </p:nvSpPr>
        <p:spPr>
          <a:xfrm>
            <a:off x="685800" y="2011680"/>
            <a:ext cx="3657600" cy="237744"/>
          </a:xfrm>
          <a:prstGeom prst="rect">
            <a:avLst/>
          </a:prstGeom>
          <a:noFill/>
          <a:ln/>
        </p:spPr>
        <p:txBody>
          <a:bodyPr wrap="square" lIns="0" tIns="0" rIns="0" bIns="0" rtlCol="0" anchor="ctr">
            <a:normAutofit/>
          </a:bodyPr>
          <a:lstStyle/>
          <a:p>
            <a:pPr algn="l" indent="0" marL="0">
              <a:buNone/>
            </a:pPr>
            <a:r>
              <a:rPr lang="en-US" sz="1500" b="1" dirty="0">
                <a:solidFill>
                  <a:srgbClr val="151C26"/>
                </a:solidFill>
                <a:latin typeface="Noto Sans CJK KR" pitchFamily="34" charset="0"/>
                <a:ea typeface="Noto Sans CJK KR" pitchFamily="34" charset="-122"/>
                <a:cs typeface="Noto Sans CJK KR" pitchFamily="34" charset="-120"/>
              </a:rPr>
              <a:t>Stothart et al. (2015)</a:t>
            </a:r>
            <a:endParaRPr lang="en-US" sz="1500" dirty="0"/>
          </a:p>
        </p:txBody>
      </p:sp>
      <p:sp>
        <p:nvSpPr>
          <p:cNvPr id="7" name="Text 5"/>
          <p:cNvSpPr/>
          <p:nvPr/>
        </p:nvSpPr>
        <p:spPr>
          <a:xfrm>
            <a:off x="685800" y="2450592"/>
            <a:ext cx="4663440" cy="658368"/>
          </a:xfrm>
          <a:prstGeom prst="rect">
            <a:avLst/>
          </a:prstGeom>
          <a:noFill/>
          <a:ln/>
        </p:spPr>
        <p:txBody>
          <a:bodyPr wrap="square" lIns="0" tIns="0" rIns="0" bIns="0" rtlCol="0" anchor="ctr">
            <a:normAutofit/>
          </a:bodyPr>
          <a:lstStyle/>
          <a:p>
            <a:pPr algn="l" indent="0" marL="0">
              <a:buNone/>
            </a:pPr>
            <a:r>
              <a:rPr lang="en-US" sz="1800" dirty="0">
                <a:solidFill>
                  <a:srgbClr val="151C26"/>
                </a:solidFill>
                <a:latin typeface="Noto Sans CJK KR" pitchFamily="34" charset="0"/>
                <a:ea typeface="Noto Sans CJK KR" pitchFamily="34" charset="-122"/>
                <a:cs typeface="Noto Sans CJK KR" pitchFamily="34" charset="-120"/>
              </a:rPr>
              <a:t>주의가 필요한 과제 중 휴대폰 알림을 받은 조건에서</a:t>
            </a:r>
            <a:endParaRPr lang="en-US" sz="1800" dirty="0"/>
          </a:p>
          <a:p>
            <a:pPr algn="l" indent="0" marL="0">
              <a:buNone/>
            </a:pPr>
            <a:r>
              <a:rPr lang="en-US" sz="1800" dirty="0">
                <a:solidFill>
                  <a:srgbClr val="151C26"/>
                </a:solidFill>
                <a:latin typeface="Noto Sans CJK KR" pitchFamily="34" charset="0"/>
                <a:ea typeface="Noto Sans CJK KR" pitchFamily="34" charset="-122"/>
                <a:cs typeface="Noto Sans CJK KR" pitchFamily="34" charset="-120"/>
              </a:rPr>
              <a:t>과제 수행이 나빠지는 결과가 나타났다.</a:t>
            </a:r>
            <a:endParaRPr lang="en-US" sz="1800" dirty="0"/>
          </a:p>
        </p:txBody>
      </p:sp>
      <p:sp>
        <p:nvSpPr>
          <p:cNvPr id="8" name="Text 6"/>
          <p:cNvSpPr/>
          <p:nvPr/>
        </p:nvSpPr>
        <p:spPr>
          <a:xfrm>
            <a:off x="685800" y="3794760"/>
            <a:ext cx="4937760" cy="786384"/>
          </a:xfrm>
          <a:prstGeom prst="rect">
            <a:avLst/>
          </a:prstGeom>
          <a:noFill/>
          <a:ln/>
        </p:spPr>
        <p:txBody>
          <a:bodyPr wrap="square" lIns="0" tIns="0" rIns="0" bIns="0" rtlCol="0" anchor="ctr">
            <a:normAutofit/>
          </a:bodyPr>
          <a:lstStyle/>
          <a:p>
            <a:pPr algn="l" indent="0" marL="0">
              <a:buNone/>
            </a:pPr>
            <a:r>
              <a:rPr lang="en-US" sz="3100" b="1" dirty="0">
                <a:solidFill>
                  <a:srgbClr val="F2545B"/>
                </a:solidFill>
                <a:latin typeface="Noto Sans CJK KR" pitchFamily="34" charset="0"/>
                <a:ea typeface="Noto Sans CJK KR" pitchFamily="34" charset="-122"/>
                <a:cs typeface="Noto Sans CJK KR" pitchFamily="34" charset="-120"/>
              </a:rPr>
              <a:t>확인하지 않아도</a:t>
            </a:r>
            <a:endParaRPr lang="en-US" sz="3100" dirty="0"/>
          </a:p>
          <a:p>
            <a:pPr algn="l" indent="0" marL="0">
              <a:buNone/>
            </a:pPr>
            <a:r>
              <a:rPr lang="en-US" sz="3100" b="1" dirty="0">
                <a:solidFill>
                  <a:srgbClr val="F2545B"/>
                </a:solidFill>
                <a:latin typeface="Noto Sans CJK KR" pitchFamily="34" charset="0"/>
                <a:ea typeface="Noto Sans CJK KR" pitchFamily="34" charset="-122"/>
                <a:cs typeface="Noto Sans CJK KR" pitchFamily="34" charset="-120"/>
              </a:rPr>
              <a:t>주의는 이미 흔들릴 수 있다</a:t>
            </a:r>
            <a:endParaRPr lang="en-US" sz="3100" dirty="0"/>
          </a:p>
        </p:txBody>
      </p:sp>
      <p:sp>
        <p:nvSpPr>
          <p:cNvPr id="9" name="Shape 7"/>
          <p:cNvSpPr/>
          <p:nvPr/>
        </p:nvSpPr>
        <p:spPr>
          <a:xfrm>
            <a:off x="6446520" y="1828800"/>
            <a:ext cx="4754880" cy="3474720"/>
          </a:xfrm>
          <a:prstGeom prst="roundRect">
            <a:avLst>
              <a:gd name="adj" fmla="val 3684"/>
            </a:avLst>
          </a:prstGeom>
          <a:solidFill>
            <a:srgbClr val="FFFCF7"/>
          </a:solidFill>
          <a:ln w="10160">
            <a:solidFill>
              <a:srgbClr val="E8DFD4">
                <a:alpha val="90000"/>
              </a:srgbClr>
            </a:solidFill>
            <a:prstDash val="solid"/>
          </a:ln>
        </p:spPr>
      </p:sp>
      <p:sp>
        <p:nvSpPr>
          <p:cNvPr id="10" name="Text 8"/>
          <p:cNvSpPr/>
          <p:nvPr/>
        </p:nvSpPr>
        <p:spPr>
          <a:xfrm>
            <a:off x="6858000" y="2286000"/>
            <a:ext cx="1097280" cy="228600"/>
          </a:xfrm>
          <a:prstGeom prst="rect">
            <a:avLst/>
          </a:prstGeom>
          <a:noFill/>
          <a:ln/>
        </p:spPr>
        <p:txBody>
          <a:bodyPr wrap="square" lIns="0" tIns="0" rIns="0" bIns="0" rtlCol="0" anchor="ctr">
            <a:normAutofit/>
          </a:bodyPr>
          <a:lstStyle/>
          <a:p>
            <a:pPr algn="l" indent="0" marL="0">
              <a:buNone/>
            </a:pPr>
            <a:r>
              <a:rPr lang="en-US" sz="1700" b="1" dirty="0">
                <a:solidFill>
                  <a:srgbClr val="235CFF"/>
                </a:solidFill>
                <a:latin typeface="Noto Sans CJK KR" pitchFamily="34" charset="0"/>
                <a:ea typeface="Noto Sans CJK KR" pitchFamily="34" charset="-122"/>
                <a:cs typeface="Noto Sans CJK KR" pitchFamily="34" charset="-120"/>
              </a:rPr>
              <a:t>알림</a:t>
            </a:r>
            <a:endParaRPr lang="en-US" sz="1700" dirty="0"/>
          </a:p>
        </p:txBody>
      </p:sp>
      <p:sp>
        <p:nvSpPr>
          <p:cNvPr id="11" name="Shape 9"/>
          <p:cNvSpPr/>
          <p:nvPr/>
        </p:nvSpPr>
        <p:spPr>
          <a:xfrm>
            <a:off x="7818120" y="2404872"/>
            <a:ext cx="960120" cy="0"/>
          </a:xfrm>
          <a:prstGeom prst="line">
            <a:avLst/>
          </a:prstGeom>
          <a:noFill/>
          <a:ln w="17780">
            <a:solidFill>
              <a:srgbClr val="D9D2C8"/>
            </a:solidFill>
            <a:prstDash val="solid"/>
            <a:tailEnd type="triangle"/>
          </a:ln>
        </p:spPr>
      </p:sp>
      <p:sp>
        <p:nvSpPr>
          <p:cNvPr id="12" name="Text 10"/>
          <p:cNvSpPr/>
          <p:nvPr/>
        </p:nvSpPr>
        <p:spPr>
          <a:xfrm>
            <a:off x="8988552" y="2286000"/>
            <a:ext cx="1828800" cy="228600"/>
          </a:xfrm>
          <a:prstGeom prst="rect">
            <a:avLst/>
          </a:prstGeom>
          <a:noFill/>
          <a:ln/>
        </p:spPr>
        <p:txBody>
          <a:bodyPr wrap="square" lIns="0" tIns="0" rIns="0" bIns="0" rtlCol="0" anchor="ctr">
            <a:normAutofit/>
          </a:bodyPr>
          <a:lstStyle/>
          <a:p>
            <a:pPr algn="l" indent="0" marL="0">
              <a:buNone/>
            </a:pPr>
            <a:r>
              <a:rPr lang="en-US" sz="1700" b="1" dirty="0">
                <a:solidFill>
                  <a:srgbClr val="151C26"/>
                </a:solidFill>
                <a:latin typeface="Noto Sans CJK KR" pitchFamily="34" charset="0"/>
                <a:ea typeface="Noto Sans CJK KR" pitchFamily="34" charset="-122"/>
                <a:cs typeface="Noto Sans CJK KR" pitchFamily="34" charset="-120"/>
              </a:rPr>
              <a:t>메시지 관련 생각</a:t>
            </a:r>
            <a:endParaRPr lang="en-US" sz="1700" dirty="0"/>
          </a:p>
        </p:txBody>
      </p:sp>
      <p:sp>
        <p:nvSpPr>
          <p:cNvPr id="13" name="Shape 11"/>
          <p:cNvSpPr/>
          <p:nvPr/>
        </p:nvSpPr>
        <p:spPr>
          <a:xfrm>
            <a:off x="7315200" y="2999232"/>
            <a:ext cx="2148840" cy="932688"/>
          </a:xfrm>
          <a:prstGeom prst="line">
            <a:avLst/>
          </a:prstGeom>
          <a:noFill/>
          <a:ln w="17780">
            <a:solidFill>
              <a:srgbClr val="D9D2C8"/>
            </a:solidFill>
            <a:prstDash val="solid"/>
            <a:tailEnd type="triangle"/>
          </a:ln>
        </p:spPr>
      </p:sp>
      <p:sp>
        <p:nvSpPr>
          <p:cNvPr id="14" name="Text 12"/>
          <p:cNvSpPr/>
          <p:nvPr/>
        </p:nvSpPr>
        <p:spPr>
          <a:xfrm>
            <a:off x="8823960" y="4069080"/>
            <a:ext cx="1920240" cy="420624"/>
          </a:xfrm>
          <a:prstGeom prst="rect">
            <a:avLst/>
          </a:prstGeom>
          <a:noFill/>
          <a:ln/>
        </p:spPr>
        <p:txBody>
          <a:bodyPr wrap="square" lIns="0" tIns="0" rIns="0" bIns="0" rtlCol="0" anchor="ctr">
            <a:normAutofit/>
          </a:bodyPr>
          <a:lstStyle/>
          <a:p>
            <a:pPr algn="ctr" indent="0" marL="0">
              <a:buNone/>
            </a:pPr>
            <a:r>
              <a:rPr lang="en-US" sz="1700" b="1" dirty="0">
                <a:solidFill>
                  <a:srgbClr val="F2545B"/>
                </a:solidFill>
                <a:latin typeface="Noto Sans CJK KR" pitchFamily="34" charset="0"/>
                <a:ea typeface="Noto Sans CJK KR" pitchFamily="34" charset="-122"/>
                <a:cs typeface="Noto Sans CJK KR" pitchFamily="34" charset="-120"/>
              </a:rPr>
              <a:t>현재 과제에서</a:t>
            </a:r>
            <a:endParaRPr lang="en-US" sz="1700" dirty="0"/>
          </a:p>
          <a:p>
            <a:pPr algn="ctr" indent="0" marL="0">
              <a:buNone/>
            </a:pPr>
            <a:r>
              <a:rPr lang="en-US" sz="1700" b="1" dirty="0">
                <a:solidFill>
                  <a:srgbClr val="F2545B"/>
                </a:solidFill>
                <a:latin typeface="Noto Sans CJK KR" pitchFamily="34" charset="0"/>
                <a:ea typeface="Noto Sans CJK KR" pitchFamily="34" charset="-122"/>
                <a:cs typeface="Noto Sans CJK KR" pitchFamily="34" charset="-120"/>
              </a:rPr>
              <a:t>주의가 빠져나감</a:t>
            </a:r>
            <a:endParaRPr lang="en-US" sz="1700" dirty="0"/>
          </a:p>
        </p:txBody>
      </p:sp>
      <p:sp>
        <p:nvSpPr>
          <p:cNvPr id="15" name="Text 13"/>
          <p:cNvSpPr/>
          <p:nvPr/>
        </p:nvSpPr>
        <p:spPr>
          <a:xfrm>
            <a:off x="658368" y="6528816"/>
            <a:ext cx="10607040" cy="146304"/>
          </a:xfrm>
          <a:prstGeom prst="rect">
            <a:avLst/>
          </a:prstGeom>
          <a:noFill/>
          <a:ln/>
        </p:spPr>
        <p:txBody>
          <a:bodyPr wrap="square" lIns="0" tIns="0" rIns="0" bIns="0" rtlCol="0" anchor="ctr">
            <a:normAutofit/>
          </a:bodyPr>
          <a:lstStyle/>
          <a:p>
            <a:pPr algn="l" indent="0" marL="0">
              <a:buNone/>
            </a:pPr>
            <a:r>
              <a:rPr lang="en-US" sz="650" dirty="0">
                <a:solidFill>
                  <a:srgbClr val="9AA1AC"/>
                </a:solidFill>
                <a:latin typeface="Noto Sans CJK KR" pitchFamily="34" charset="0"/>
                <a:ea typeface="Noto Sans CJK KR" pitchFamily="34" charset="-122"/>
                <a:cs typeface="Noto Sans CJK KR" pitchFamily="34" charset="-120"/>
              </a:rPr>
              <a:t>Stothart et al., Journal of Experimental Psychology: Human Perception and Performance, 2015; DOI 10.1037/xhp0000100</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CF7"/>
        </a:solidFill>
      </p:bgPr>
    </p:bg>
    <p:spTree>
      <p:nvGrpSpPr>
        <p:cNvPr id="1" name=""/>
        <p:cNvGrpSpPr/>
        <p:nvPr/>
      </p:nvGrpSpPr>
      <p:grpSpPr>
        <a:xfrm>
          <a:off x="0" y="0"/>
          <a:ext cx="0" cy="0"/>
          <a:chOff x="0" y="0"/>
          <a:chExt cx="0" cy="0"/>
        </a:xfrm>
      </p:grpSpPr>
      <p:sp>
        <p:nvSpPr>
          <p:cNvPr id="2" name="Text 0"/>
          <p:cNvSpPr/>
          <p:nvPr/>
        </p:nvSpPr>
        <p:spPr>
          <a:xfrm>
            <a:off x="640080" y="347472"/>
            <a:ext cx="3840480" cy="219456"/>
          </a:xfrm>
          <a:prstGeom prst="rect">
            <a:avLst/>
          </a:prstGeom>
          <a:noFill/>
          <a:ln/>
        </p:spPr>
        <p:txBody>
          <a:bodyPr wrap="square" lIns="0" tIns="0" rIns="0" bIns="0" rtlCol="0" anchor="ctr">
            <a:normAutofit/>
          </a:bodyPr>
          <a:lstStyle/>
          <a:p>
            <a:pPr algn="l" indent="0" marL="0">
              <a:buNone/>
            </a:pPr>
            <a:r>
              <a:rPr lang="en-US" sz="800" b="1" dirty="0">
                <a:solidFill>
                  <a:srgbClr val="235CFF"/>
                </a:solidFill>
                <a:latin typeface="Noto Sans CJK KR" pitchFamily="34" charset="0"/>
                <a:ea typeface="Noto Sans CJK KR" pitchFamily="34" charset="-122"/>
                <a:cs typeface="Noto Sans CJK KR" pitchFamily="34" charset="-120"/>
              </a:rPr>
              <a:t>EVIDENCE 02</a:t>
            </a:r>
            <a:endParaRPr lang="en-US" sz="800" dirty="0"/>
          </a:p>
        </p:txBody>
      </p:sp>
      <p:sp>
        <p:nvSpPr>
          <p:cNvPr id="3" name="Text 1"/>
          <p:cNvSpPr/>
          <p:nvPr/>
        </p:nvSpPr>
        <p:spPr>
          <a:xfrm>
            <a:off x="11109960" y="320040"/>
            <a:ext cx="548640" cy="201168"/>
          </a:xfrm>
          <a:prstGeom prst="rect">
            <a:avLst/>
          </a:prstGeom>
          <a:noFill/>
          <a:ln/>
        </p:spPr>
        <p:txBody>
          <a:bodyPr wrap="square" lIns="0" tIns="0" rIns="0" bIns="0" rtlCol="0" anchor="ctr">
            <a:normAutofit/>
          </a:bodyPr>
          <a:lstStyle/>
          <a:p>
            <a:pPr algn="r" indent="0" marL="0">
              <a:buNone/>
            </a:pPr>
            <a:r>
              <a:rPr lang="en-US" sz="800" b="1" dirty="0">
                <a:solidFill>
                  <a:srgbClr val="606A7A"/>
                </a:solidFill>
                <a:latin typeface="Noto Sans CJK KR" pitchFamily="34" charset="0"/>
                <a:ea typeface="Noto Sans CJK KR" pitchFamily="34" charset="-122"/>
                <a:cs typeface="Noto Sans CJK KR" pitchFamily="34" charset="-120"/>
              </a:rPr>
              <a:t>06</a:t>
            </a:r>
            <a:endParaRPr lang="en-US" sz="800" dirty="0"/>
          </a:p>
        </p:txBody>
      </p:sp>
      <p:sp>
        <p:nvSpPr>
          <p:cNvPr id="4" name="Text 2"/>
          <p:cNvSpPr/>
          <p:nvPr/>
        </p:nvSpPr>
        <p:spPr>
          <a:xfrm>
            <a:off x="640080" y="713232"/>
            <a:ext cx="8869680" cy="676656"/>
          </a:xfrm>
          <a:prstGeom prst="rect">
            <a:avLst/>
          </a:prstGeom>
          <a:noFill/>
          <a:ln/>
        </p:spPr>
        <p:txBody>
          <a:bodyPr wrap="square" lIns="0" tIns="0" rIns="0" bIns="0" rtlCol="0" anchor="ctr">
            <a:normAutofit/>
          </a:bodyPr>
          <a:lstStyle/>
          <a:p>
            <a:pPr algn="l" indent="0" marL="0">
              <a:buNone/>
            </a:pPr>
            <a:r>
              <a:rPr lang="en-US" sz="2900" b="1" dirty="0">
                <a:solidFill>
                  <a:srgbClr val="151C26"/>
                </a:solidFill>
                <a:latin typeface="Noto Sans CJK KR" pitchFamily="34" charset="0"/>
                <a:ea typeface="Noto Sans CJK KR" pitchFamily="34" charset="-122"/>
                <a:cs typeface="Noto Sans CJK KR" pitchFamily="34" charset="-120"/>
              </a:rPr>
              <a:t>폰이 보이는 것만으로도 인지 자원을 쓴다</a:t>
            </a:r>
            <a:endParaRPr lang="en-US" sz="2900" dirty="0"/>
          </a:p>
        </p:txBody>
      </p:sp>
      <p:sp>
        <p:nvSpPr>
          <p:cNvPr id="5" name="Text 3"/>
          <p:cNvSpPr/>
          <p:nvPr/>
        </p:nvSpPr>
        <p:spPr>
          <a:xfrm>
            <a:off x="658368" y="1481328"/>
            <a:ext cx="7315200" cy="329184"/>
          </a:xfrm>
          <a:prstGeom prst="rect">
            <a:avLst/>
          </a:prstGeom>
          <a:noFill/>
          <a:ln/>
        </p:spPr>
        <p:txBody>
          <a:bodyPr wrap="square" lIns="0" tIns="0" rIns="0" bIns="0" rtlCol="0" anchor="ctr">
            <a:normAutofit/>
          </a:bodyPr>
          <a:lstStyle/>
          <a:p>
            <a:pPr algn="l" indent="0" marL="0">
              <a:buNone/>
            </a:pPr>
            <a:r>
              <a:rPr lang="en-US" sz="1250" dirty="0">
                <a:solidFill>
                  <a:srgbClr val="606A7A"/>
                </a:solidFill>
                <a:latin typeface="Noto Sans CJK KR" pitchFamily="34" charset="0"/>
                <a:ea typeface="Noto Sans CJK KR" pitchFamily="34" charset="-122"/>
                <a:cs typeface="Noto Sans CJK KR" pitchFamily="34" charset="-120"/>
              </a:rPr>
              <a:t>알림이 꺼져 있어도, 가까운 스마트폰은 일부 주의를 차지할 수 있다.</a:t>
            </a:r>
            <a:endParaRPr lang="en-US" sz="1250" dirty="0"/>
          </a:p>
        </p:txBody>
      </p:sp>
      <p:sp>
        <p:nvSpPr>
          <p:cNvPr id="6" name="Text 4"/>
          <p:cNvSpPr/>
          <p:nvPr/>
        </p:nvSpPr>
        <p:spPr>
          <a:xfrm>
            <a:off x="822960" y="2057400"/>
            <a:ext cx="3977640" cy="731520"/>
          </a:xfrm>
          <a:prstGeom prst="rect">
            <a:avLst/>
          </a:prstGeom>
          <a:noFill/>
          <a:ln/>
        </p:spPr>
        <p:txBody>
          <a:bodyPr wrap="square" lIns="0" tIns="0" rIns="0" bIns="0" rtlCol="0" anchor="ctr">
            <a:normAutofit/>
          </a:bodyPr>
          <a:lstStyle/>
          <a:p>
            <a:pPr algn="l" indent="0" marL="0">
              <a:buNone/>
            </a:pPr>
            <a:r>
              <a:rPr lang="en-US" sz="2500" b="1" dirty="0">
                <a:solidFill>
                  <a:srgbClr val="151C26"/>
                </a:solidFill>
                <a:latin typeface="Noto Sans CJK KR" pitchFamily="34" charset="0"/>
                <a:ea typeface="Noto Sans CJK KR" pitchFamily="34" charset="-122"/>
                <a:cs typeface="Noto Sans CJK KR" pitchFamily="34" charset="-120"/>
              </a:rPr>
              <a:t>스마트폰 위치가 멀어질수록</a:t>
            </a:r>
            <a:endParaRPr lang="en-US" sz="2500" dirty="0"/>
          </a:p>
          <a:p>
            <a:pPr algn="l" indent="0" marL="0">
              <a:buNone/>
            </a:pPr>
            <a:r>
              <a:rPr lang="en-US" sz="2500" b="1" dirty="0">
                <a:solidFill>
                  <a:srgbClr val="151C26"/>
                </a:solidFill>
                <a:latin typeface="Noto Sans CJK KR" pitchFamily="34" charset="0"/>
                <a:ea typeface="Noto Sans CJK KR" pitchFamily="34" charset="-122"/>
                <a:cs typeface="Noto Sans CJK KR" pitchFamily="34" charset="-120"/>
              </a:rPr>
              <a:t>인지 과제 수행이 좋아지는 경향</a:t>
            </a:r>
            <a:endParaRPr lang="en-US" sz="2500" dirty="0"/>
          </a:p>
        </p:txBody>
      </p:sp>
      <p:sp>
        <p:nvSpPr>
          <p:cNvPr id="7" name="Text 5"/>
          <p:cNvSpPr/>
          <p:nvPr/>
        </p:nvSpPr>
        <p:spPr>
          <a:xfrm>
            <a:off x="841248" y="3090672"/>
            <a:ext cx="4297680" cy="502920"/>
          </a:xfrm>
          <a:prstGeom prst="rect">
            <a:avLst/>
          </a:prstGeom>
          <a:noFill/>
          <a:ln/>
        </p:spPr>
        <p:txBody>
          <a:bodyPr wrap="square" lIns="0" tIns="0" rIns="0" bIns="0" rtlCol="0" anchor="ctr">
            <a:normAutofit/>
          </a:bodyPr>
          <a:lstStyle/>
          <a:p>
            <a:pPr algn="l" indent="0" marL="0">
              <a:buNone/>
            </a:pPr>
            <a:r>
              <a:rPr lang="en-US" sz="1700" dirty="0">
                <a:solidFill>
                  <a:srgbClr val="606A7A"/>
                </a:solidFill>
                <a:latin typeface="Noto Sans CJK KR" pitchFamily="34" charset="0"/>
                <a:ea typeface="Noto Sans CJK KR" pitchFamily="34" charset="-122"/>
                <a:cs typeface="Noto Sans CJK KR" pitchFamily="34" charset="-120"/>
              </a:rPr>
              <a:t>핵심은 “폰을 안 봤다”가 아니라</a:t>
            </a:r>
            <a:endParaRPr lang="en-US" sz="1700" dirty="0"/>
          </a:p>
          <a:p>
            <a:pPr algn="l" indent="0" marL="0">
              <a:buNone/>
            </a:pPr>
            <a:r>
              <a:rPr lang="en-US" sz="1700" dirty="0">
                <a:solidFill>
                  <a:srgbClr val="606A7A"/>
                </a:solidFill>
                <a:latin typeface="Noto Sans CJK KR" pitchFamily="34" charset="0"/>
                <a:ea typeface="Noto Sans CJK KR" pitchFamily="34" charset="-122"/>
                <a:cs typeface="Noto Sans CJK KR" pitchFamily="34" charset="-120"/>
              </a:rPr>
              <a:t>“폰을 무시하는 데도 자원이 든다”는 점이다.</a:t>
            </a:r>
            <a:endParaRPr lang="en-US" sz="1700" dirty="0"/>
          </a:p>
        </p:txBody>
      </p:sp>
      <p:sp>
        <p:nvSpPr>
          <p:cNvPr id="8" name="Shape 6"/>
          <p:cNvSpPr/>
          <p:nvPr/>
        </p:nvSpPr>
        <p:spPr>
          <a:xfrm>
            <a:off x="5486400" y="2240280"/>
            <a:ext cx="1554480" cy="2697480"/>
          </a:xfrm>
          <a:prstGeom prst="roundRect">
            <a:avLst>
              <a:gd name="adj" fmla="val 9412"/>
            </a:avLst>
          </a:prstGeom>
          <a:solidFill>
            <a:srgbClr val="FFF1F2"/>
          </a:solidFill>
          <a:ln w="12700">
            <a:solidFill>
              <a:srgbClr val="FBC5C9"/>
            </a:solidFill>
            <a:prstDash val="solid"/>
          </a:ln>
        </p:spPr>
      </p:sp>
      <p:sp>
        <p:nvSpPr>
          <p:cNvPr id="9" name="Text 7"/>
          <p:cNvSpPr/>
          <p:nvPr/>
        </p:nvSpPr>
        <p:spPr>
          <a:xfrm>
            <a:off x="5897880" y="2624328"/>
            <a:ext cx="731520" cy="548640"/>
          </a:xfrm>
          <a:prstGeom prst="rect">
            <a:avLst/>
          </a:prstGeom>
          <a:noFill/>
          <a:ln/>
        </p:spPr>
        <p:txBody>
          <a:bodyPr wrap="square" lIns="0" tIns="0" rIns="0" bIns="0" rtlCol="0" anchor="ctr">
            <a:normAutofit/>
          </a:bodyPr>
          <a:lstStyle/>
          <a:p>
            <a:pPr algn="ctr" indent="0" marL="0">
              <a:buNone/>
            </a:pPr>
            <a:r>
              <a:rPr lang="en-US" sz="3000" dirty="0">
                <a:solidFill>
                  <a:srgbClr val="151C26"/>
                </a:solidFill>
                <a:latin typeface="Noto Sans CJK KR" pitchFamily="34" charset="0"/>
                <a:ea typeface="Noto Sans CJK KR" pitchFamily="34" charset="-122"/>
                <a:cs typeface="Noto Sans CJK KR" pitchFamily="34" charset="-120"/>
              </a:rPr>
              <a:t>📱</a:t>
            </a:r>
            <a:endParaRPr lang="en-US" sz="3000" dirty="0"/>
          </a:p>
        </p:txBody>
      </p:sp>
      <p:sp>
        <p:nvSpPr>
          <p:cNvPr id="10" name="Text 8"/>
          <p:cNvSpPr/>
          <p:nvPr/>
        </p:nvSpPr>
        <p:spPr>
          <a:xfrm>
            <a:off x="5623560" y="3401568"/>
            <a:ext cx="1280160" cy="219456"/>
          </a:xfrm>
          <a:prstGeom prst="rect">
            <a:avLst/>
          </a:prstGeom>
          <a:noFill/>
          <a:ln/>
        </p:spPr>
        <p:txBody>
          <a:bodyPr wrap="square" lIns="0" tIns="0" rIns="0" bIns="0" rtlCol="0" anchor="ctr">
            <a:normAutofit/>
          </a:bodyPr>
          <a:lstStyle/>
          <a:p>
            <a:pPr algn="ctr" indent="0" marL="0">
              <a:buNone/>
            </a:pPr>
            <a:r>
              <a:rPr lang="en-US" sz="1400" b="1" dirty="0">
                <a:solidFill>
                  <a:srgbClr val="151C26"/>
                </a:solidFill>
                <a:latin typeface="Noto Sans CJK KR" pitchFamily="34" charset="0"/>
                <a:ea typeface="Noto Sans CJK KR" pitchFamily="34" charset="-122"/>
                <a:cs typeface="Noto Sans CJK KR" pitchFamily="34" charset="-120"/>
              </a:rPr>
              <a:t>책상 위</a:t>
            </a:r>
            <a:endParaRPr lang="en-US" sz="1400" dirty="0"/>
          </a:p>
        </p:txBody>
      </p:sp>
      <p:sp>
        <p:nvSpPr>
          <p:cNvPr id="11" name="Text 9"/>
          <p:cNvSpPr/>
          <p:nvPr/>
        </p:nvSpPr>
        <p:spPr>
          <a:xfrm>
            <a:off x="5623560" y="3749040"/>
            <a:ext cx="1280160" cy="164592"/>
          </a:xfrm>
          <a:prstGeom prst="rect">
            <a:avLst/>
          </a:prstGeom>
          <a:noFill/>
          <a:ln/>
        </p:spPr>
        <p:txBody>
          <a:bodyPr wrap="square" lIns="0" tIns="0" rIns="0" bIns="0" rtlCol="0" anchor="ctr">
            <a:normAutofit/>
          </a:bodyPr>
          <a:lstStyle/>
          <a:p>
            <a:pPr algn="ctr" indent="0" marL="0">
              <a:buNone/>
            </a:pPr>
            <a:r>
              <a:rPr lang="en-US" sz="850" dirty="0">
                <a:solidFill>
                  <a:srgbClr val="606A7A"/>
                </a:solidFill>
                <a:latin typeface="Noto Sans CJK KR" pitchFamily="34" charset="0"/>
                <a:ea typeface="Noto Sans CJK KR" pitchFamily="34" charset="-122"/>
                <a:cs typeface="Noto Sans CJK KR" pitchFamily="34" charset="-120"/>
              </a:rPr>
              <a:t>가장 가까움</a:t>
            </a:r>
            <a:endParaRPr lang="en-US" sz="850" dirty="0"/>
          </a:p>
        </p:txBody>
      </p:sp>
      <p:sp>
        <p:nvSpPr>
          <p:cNvPr id="12" name="Shape 10"/>
          <p:cNvSpPr/>
          <p:nvPr/>
        </p:nvSpPr>
        <p:spPr>
          <a:xfrm>
            <a:off x="7543800" y="2240280"/>
            <a:ext cx="1554480" cy="2697480"/>
          </a:xfrm>
          <a:prstGeom prst="roundRect">
            <a:avLst>
              <a:gd name="adj" fmla="val 9412"/>
            </a:avLst>
          </a:prstGeom>
          <a:solidFill>
            <a:srgbClr val="FFF7DA"/>
          </a:solidFill>
          <a:ln w="12700">
            <a:solidFill>
              <a:srgbClr val="F0D694"/>
            </a:solidFill>
            <a:prstDash val="solid"/>
          </a:ln>
        </p:spPr>
      </p:sp>
      <p:sp>
        <p:nvSpPr>
          <p:cNvPr id="13" name="Text 11"/>
          <p:cNvSpPr/>
          <p:nvPr/>
        </p:nvSpPr>
        <p:spPr>
          <a:xfrm>
            <a:off x="7955280" y="2624328"/>
            <a:ext cx="731520" cy="548640"/>
          </a:xfrm>
          <a:prstGeom prst="rect">
            <a:avLst/>
          </a:prstGeom>
          <a:noFill/>
          <a:ln/>
        </p:spPr>
        <p:txBody>
          <a:bodyPr wrap="square" lIns="0" tIns="0" rIns="0" bIns="0" rtlCol="0" anchor="ctr">
            <a:normAutofit/>
          </a:bodyPr>
          <a:lstStyle/>
          <a:p>
            <a:pPr algn="ctr" indent="0" marL="0">
              <a:buNone/>
            </a:pPr>
            <a:r>
              <a:rPr lang="en-US" sz="3000" dirty="0">
                <a:solidFill>
                  <a:srgbClr val="151C26"/>
                </a:solidFill>
                <a:latin typeface="Noto Sans CJK KR" pitchFamily="34" charset="0"/>
                <a:ea typeface="Noto Sans CJK KR" pitchFamily="34" charset="-122"/>
                <a:cs typeface="Noto Sans CJK KR" pitchFamily="34" charset="-120"/>
              </a:rPr>
              <a:t>🎒</a:t>
            </a:r>
            <a:endParaRPr lang="en-US" sz="3000" dirty="0"/>
          </a:p>
        </p:txBody>
      </p:sp>
      <p:sp>
        <p:nvSpPr>
          <p:cNvPr id="14" name="Text 12"/>
          <p:cNvSpPr/>
          <p:nvPr/>
        </p:nvSpPr>
        <p:spPr>
          <a:xfrm>
            <a:off x="7680960" y="3401568"/>
            <a:ext cx="1280160" cy="219456"/>
          </a:xfrm>
          <a:prstGeom prst="rect">
            <a:avLst/>
          </a:prstGeom>
          <a:noFill/>
          <a:ln/>
        </p:spPr>
        <p:txBody>
          <a:bodyPr wrap="square" lIns="0" tIns="0" rIns="0" bIns="0" rtlCol="0" anchor="ctr">
            <a:normAutofit/>
          </a:bodyPr>
          <a:lstStyle/>
          <a:p>
            <a:pPr algn="ctr" indent="0" marL="0">
              <a:buNone/>
            </a:pPr>
            <a:r>
              <a:rPr lang="en-US" sz="1400" b="1" dirty="0">
                <a:solidFill>
                  <a:srgbClr val="151C26"/>
                </a:solidFill>
                <a:latin typeface="Noto Sans CJK KR" pitchFamily="34" charset="0"/>
                <a:ea typeface="Noto Sans CJK KR" pitchFamily="34" charset="-122"/>
                <a:cs typeface="Noto Sans CJK KR" pitchFamily="34" charset="-120"/>
              </a:rPr>
              <a:t>가방·주머니</a:t>
            </a:r>
            <a:endParaRPr lang="en-US" sz="1400" dirty="0"/>
          </a:p>
        </p:txBody>
      </p:sp>
      <p:sp>
        <p:nvSpPr>
          <p:cNvPr id="15" name="Text 13"/>
          <p:cNvSpPr/>
          <p:nvPr/>
        </p:nvSpPr>
        <p:spPr>
          <a:xfrm>
            <a:off x="7680960" y="3749040"/>
            <a:ext cx="1280160" cy="164592"/>
          </a:xfrm>
          <a:prstGeom prst="rect">
            <a:avLst/>
          </a:prstGeom>
          <a:noFill/>
          <a:ln/>
        </p:spPr>
        <p:txBody>
          <a:bodyPr wrap="square" lIns="0" tIns="0" rIns="0" bIns="0" rtlCol="0" anchor="ctr">
            <a:normAutofit/>
          </a:bodyPr>
          <a:lstStyle/>
          <a:p>
            <a:pPr algn="ctr" indent="0" marL="0">
              <a:buNone/>
            </a:pPr>
            <a:r>
              <a:rPr lang="en-US" sz="850" dirty="0">
                <a:solidFill>
                  <a:srgbClr val="606A7A"/>
                </a:solidFill>
                <a:latin typeface="Noto Sans CJK KR" pitchFamily="34" charset="0"/>
                <a:ea typeface="Noto Sans CJK KR" pitchFamily="34" charset="-122"/>
                <a:cs typeface="Noto Sans CJK KR" pitchFamily="34" charset="-120"/>
              </a:rPr>
              <a:t>가까이 있음</a:t>
            </a:r>
            <a:endParaRPr lang="en-US" sz="850" dirty="0"/>
          </a:p>
        </p:txBody>
      </p:sp>
      <p:sp>
        <p:nvSpPr>
          <p:cNvPr id="16" name="Shape 14"/>
          <p:cNvSpPr/>
          <p:nvPr/>
        </p:nvSpPr>
        <p:spPr>
          <a:xfrm>
            <a:off x="9601200" y="2240280"/>
            <a:ext cx="1554480" cy="2697480"/>
          </a:xfrm>
          <a:prstGeom prst="roundRect">
            <a:avLst>
              <a:gd name="adj" fmla="val 9412"/>
            </a:avLst>
          </a:prstGeom>
          <a:solidFill>
            <a:srgbClr val="E6F7EF"/>
          </a:solidFill>
          <a:ln w="12700">
            <a:solidFill>
              <a:srgbClr val="A9DEC7"/>
            </a:solidFill>
            <a:prstDash val="solid"/>
          </a:ln>
        </p:spPr>
      </p:sp>
      <p:sp>
        <p:nvSpPr>
          <p:cNvPr id="17" name="Text 15"/>
          <p:cNvSpPr/>
          <p:nvPr/>
        </p:nvSpPr>
        <p:spPr>
          <a:xfrm>
            <a:off x="10012680" y="2624328"/>
            <a:ext cx="731520" cy="548640"/>
          </a:xfrm>
          <a:prstGeom prst="rect">
            <a:avLst/>
          </a:prstGeom>
          <a:noFill/>
          <a:ln/>
        </p:spPr>
        <p:txBody>
          <a:bodyPr wrap="square" lIns="0" tIns="0" rIns="0" bIns="0" rtlCol="0" anchor="ctr">
            <a:normAutofit/>
          </a:bodyPr>
          <a:lstStyle/>
          <a:p>
            <a:pPr algn="ctr" indent="0" marL="0">
              <a:buNone/>
            </a:pPr>
            <a:r>
              <a:rPr lang="en-US" sz="3000" dirty="0">
                <a:solidFill>
                  <a:srgbClr val="151C26"/>
                </a:solidFill>
                <a:latin typeface="Noto Sans CJK KR" pitchFamily="34" charset="0"/>
                <a:ea typeface="Noto Sans CJK KR" pitchFamily="34" charset="-122"/>
                <a:cs typeface="Noto Sans CJK KR" pitchFamily="34" charset="-120"/>
              </a:rPr>
              <a:t>🚪</a:t>
            </a:r>
            <a:endParaRPr lang="en-US" sz="3000" dirty="0"/>
          </a:p>
        </p:txBody>
      </p:sp>
      <p:sp>
        <p:nvSpPr>
          <p:cNvPr id="18" name="Text 16"/>
          <p:cNvSpPr/>
          <p:nvPr/>
        </p:nvSpPr>
        <p:spPr>
          <a:xfrm>
            <a:off x="9738360" y="3401568"/>
            <a:ext cx="1280160" cy="219456"/>
          </a:xfrm>
          <a:prstGeom prst="rect">
            <a:avLst/>
          </a:prstGeom>
          <a:noFill/>
          <a:ln/>
        </p:spPr>
        <p:txBody>
          <a:bodyPr wrap="square" lIns="0" tIns="0" rIns="0" bIns="0" rtlCol="0" anchor="ctr">
            <a:normAutofit/>
          </a:bodyPr>
          <a:lstStyle/>
          <a:p>
            <a:pPr algn="ctr" indent="0" marL="0">
              <a:buNone/>
            </a:pPr>
            <a:r>
              <a:rPr lang="en-US" sz="1400" b="1" dirty="0">
                <a:solidFill>
                  <a:srgbClr val="151C26"/>
                </a:solidFill>
                <a:latin typeface="Noto Sans CJK KR" pitchFamily="34" charset="0"/>
                <a:ea typeface="Noto Sans CJK KR" pitchFamily="34" charset="-122"/>
                <a:cs typeface="Noto Sans CJK KR" pitchFamily="34" charset="-120"/>
              </a:rPr>
              <a:t>다른 방</a:t>
            </a:r>
            <a:endParaRPr lang="en-US" sz="1400" dirty="0"/>
          </a:p>
        </p:txBody>
      </p:sp>
      <p:sp>
        <p:nvSpPr>
          <p:cNvPr id="19" name="Text 17"/>
          <p:cNvSpPr/>
          <p:nvPr/>
        </p:nvSpPr>
        <p:spPr>
          <a:xfrm>
            <a:off x="9738360" y="3749040"/>
            <a:ext cx="1280160" cy="164592"/>
          </a:xfrm>
          <a:prstGeom prst="rect">
            <a:avLst/>
          </a:prstGeom>
          <a:noFill/>
          <a:ln/>
        </p:spPr>
        <p:txBody>
          <a:bodyPr wrap="square" lIns="0" tIns="0" rIns="0" bIns="0" rtlCol="0" anchor="ctr">
            <a:normAutofit/>
          </a:bodyPr>
          <a:lstStyle/>
          <a:p>
            <a:pPr algn="ctr" indent="0" marL="0">
              <a:buNone/>
            </a:pPr>
            <a:r>
              <a:rPr lang="en-US" sz="850" dirty="0">
                <a:solidFill>
                  <a:srgbClr val="606A7A"/>
                </a:solidFill>
                <a:latin typeface="Noto Sans CJK KR" pitchFamily="34" charset="0"/>
                <a:ea typeface="Noto Sans CJK KR" pitchFamily="34" charset="-122"/>
                <a:cs typeface="Noto Sans CJK KR" pitchFamily="34" charset="-120"/>
              </a:rPr>
              <a:t>가장 멀리 있음</a:t>
            </a:r>
            <a:endParaRPr lang="en-US" sz="850" dirty="0"/>
          </a:p>
        </p:txBody>
      </p:sp>
      <p:sp>
        <p:nvSpPr>
          <p:cNvPr id="20" name="Shape 18"/>
          <p:cNvSpPr/>
          <p:nvPr/>
        </p:nvSpPr>
        <p:spPr>
          <a:xfrm>
            <a:off x="7178040" y="3566160"/>
            <a:ext cx="365760" cy="0"/>
          </a:xfrm>
          <a:prstGeom prst="line">
            <a:avLst/>
          </a:prstGeom>
          <a:noFill/>
          <a:ln w="15240">
            <a:solidFill>
              <a:srgbClr val="D9D2C8"/>
            </a:solidFill>
            <a:prstDash val="solid"/>
            <a:tailEnd type="triangle"/>
          </a:ln>
        </p:spPr>
      </p:sp>
      <p:sp>
        <p:nvSpPr>
          <p:cNvPr id="21" name="Shape 19"/>
          <p:cNvSpPr/>
          <p:nvPr/>
        </p:nvSpPr>
        <p:spPr>
          <a:xfrm>
            <a:off x="9235440" y="3566160"/>
            <a:ext cx="347472" cy="0"/>
          </a:xfrm>
          <a:prstGeom prst="line">
            <a:avLst/>
          </a:prstGeom>
          <a:noFill/>
          <a:ln w="15240">
            <a:solidFill>
              <a:srgbClr val="D9D2C8"/>
            </a:solidFill>
            <a:prstDash val="solid"/>
            <a:tailEnd type="triangle"/>
          </a:ln>
        </p:spPr>
      </p:sp>
      <p:sp>
        <p:nvSpPr>
          <p:cNvPr id="22" name="Text 20"/>
          <p:cNvSpPr/>
          <p:nvPr/>
        </p:nvSpPr>
        <p:spPr>
          <a:xfrm>
            <a:off x="658368" y="6528816"/>
            <a:ext cx="10607040" cy="146304"/>
          </a:xfrm>
          <a:prstGeom prst="rect">
            <a:avLst/>
          </a:prstGeom>
          <a:noFill/>
          <a:ln/>
        </p:spPr>
        <p:txBody>
          <a:bodyPr wrap="square" lIns="0" tIns="0" rIns="0" bIns="0" rtlCol="0" anchor="ctr">
            <a:normAutofit/>
          </a:bodyPr>
          <a:lstStyle/>
          <a:p>
            <a:pPr algn="l" indent="0" marL="0">
              <a:buNone/>
            </a:pPr>
            <a:r>
              <a:rPr lang="en-US" sz="650" dirty="0">
                <a:solidFill>
                  <a:srgbClr val="9AA1AC"/>
                </a:solidFill>
                <a:latin typeface="Noto Sans CJK KR" pitchFamily="34" charset="0"/>
                <a:ea typeface="Noto Sans CJK KR" pitchFamily="34" charset="-122"/>
                <a:cs typeface="Noto Sans CJK KR" pitchFamily="34" charset="-120"/>
              </a:rPr>
              <a:t>Ward et al., Brain Drain: The Mere Presence of One’s Own Smartphone Reduces Available Cognitive Capacity, 2017</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0E8"/>
        </a:solidFill>
      </p:bgPr>
    </p:bg>
    <p:spTree>
      <p:nvGrpSpPr>
        <p:cNvPr id="1" name=""/>
        <p:cNvGrpSpPr/>
        <p:nvPr/>
      </p:nvGrpSpPr>
      <p:grpSpPr>
        <a:xfrm>
          <a:off x="0" y="0"/>
          <a:ext cx="0" cy="0"/>
          <a:chOff x="0" y="0"/>
          <a:chExt cx="0" cy="0"/>
        </a:xfrm>
      </p:grpSpPr>
      <p:sp>
        <p:nvSpPr>
          <p:cNvPr id="2" name="Text 0"/>
          <p:cNvSpPr/>
          <p:nvPr/>
        </p:nvSpPr>
        <p:spPr>
          <a:xfrm>
            <a:off x="640080" y="347472"/>
            <a:ext cx="3840480" cy="219456"/>
          </a:xfrm>
          <a:prstGeom prst="rect">
            <a:avLst/>
          </a:prstGeom>
          <a:noFill/>
          <a:ln/>
        </p:spPr>
        <p:txBody>
          <a:bodyPr wrap="square" lIns="0" tIns="0" rIns="0" bIns="0" rtlCol="0" anchor="ctr">
            <a:normAutofit/>
          </a:bodyPr>
          <a:lstStyle/>
          <a:p>
            <a:pPr algn="l" indent="0" marL="0">
              <a:buNone/>
            </a:pPr>
            <a:r>
              <a:rPr lang="en-US" sz="800" b="1" dirty="0">
                <a:solidFill>
                  <a:srgbClr val="235CFF"/>
                </a:solidFill>
                <a:latin typeface="Noto Sans CJK KR" pitchFamily="34" charset="0"/>
                <a:ea typeface="Noto Sans CJK KR" pitchFamily="34" charset="-122"/>
                <a:cs typeface="Noto Sans CJK KR" pitchFamily="34" charset="-120"/>
              </a:rPr>
              <a:t>EVIDENCE 03</a:t>
            </a:r>
            <a:endParaRPr lang="en-US" sz="800" dirty="0"/>
          </a:p>
        </p:txBody>
      </p:sp>
      <p:sp>
        <p:nvSpPr>
          <p:cNvPr id="3" name="Text 1"/>
          <p:cNvSpPr/>
          <p:nvPr/>
        </p:nvSpPr>
        <p:spPr>
          <a:xfrm>
            <a:off x="11109960" y="320040"/>
            <a:ext cx="548640" cy="201168"/>
          </a:xfrm>
          <a:prstGeom prst="rect">
            <a:avLst/>
          </a:prstGeom>
          <a:noFill/>
          <a:ln/>
        </p:spPr>
        <p:txBody>
          <a:bodyPr wrap="square" lIns="0" tIns="0" rIns="0" bIns="0" rtlCol="0" anchor="ctr">
            <a:normAutofit/>
          </a:bodyPr>
          <a:lstStyle/>
          <a:p>
            <a:pPr algn="r" indent="0" marL="0">
              <a:buNone/>
            </a:pPr>
            <a:r>
              <a:rPr lang="en-US" sz="800" b="1" dirty="0">
                <a:solidFill>
                  <a:srgbClr val="606A7A"/>
                </a:solidFill>
                <a:latin typeface="Noto Sans CJK KR" pitchFamily="34" charset="0"/>
                <a:ea typeface="Noto Sans CJK KR" pitchFamily="34" charset="-122"/>
                <a:cs typeface="Noto Sans CJK KR" pitchFamily="34" charset="-120"/>
              </a:rPr>
              <a:t>07</a:t>
            </a:r>
            <a:endParaRPr lang="en-US" sz="800" dirty="0"/>
          </a:p>
        </p:txBody>
      </p:sp>
      <p:sp>
        <p:nvSpPr>
          <p:cNvPr id="4" name="Text 2"/>
          <p:cNvSpPr/>
          <p:nvPr/>
        </p:nvSpPr>
        <p:spPr>
          <a:xfrm>
            <a:off x="640080" y="713232"/>
            <a:ext cx="8869680" cy="676656"/>
          </a:xfrm>
          <a:prstGeom prst="rect">
            <a:avLst/>
          </a:prstGeom>
          <a:noFill/>
          <a:ln/>
        </p:spPr>
        <p:txBody>
          <a:bodyPr wrap="square" lIns="0" tIns="0" rIns="0" bIns="0" rtlCol="0" anchor="ctr">
            <a:normAutofit/>
          </a:bodyPr>
          <a:lstStyle/>
          <a:p>
            <a:pPr algn="l" indent="0" marL="0">
              <a:buNone/>
            </a:pPr>
            <a:r>
              <a:rPr lang="en-US" sz="2800" b="1" dirty="0">
                <a:solidFill>
                  <a:srgbClr val="151C26"/>
                </a:solidFill>
                <a:latin typeface="Noto Sans CJK KR" pitchFamily="34" charset="0"/>
                <a:ea typeface="Noto Sans CJK KR" pitchFamily="34" charset="-122"/>
                <a:cs typeface="Noto Sans CJK KR" pitchFamily="34" charset="-120"/>
              </a:rPr>
              <a:t>다시 집중하기 어려운 이유: attention residue</a:t>
            </a:r>
            <a:endParaRPr lang="en-US" sz="2800" dirty="0"/>
          </a:p>
        </p:txBody>
      </p:sp>
      <p:sp>
        <p:nvSpPr>
          <p:cNvPr id="5" name="Text 3"/>
          <p:cNvSpPr/>
          <p:nvPr/>
        </p:nvSpPr>
        <p:spPr>
          <a:xfrm>
            <a:off x="658368" y="1481328"/>
            <a:ext cx="7315200" cy="329184"/>
          </a:xfrm>
          <a:prstGeom prst="rect">
            <a:avLst/>
          </a:prstGeom>
          <a:noFill/>
          <a:ln/>
        </p:spPr>
        <p:txBody>
          <a:bodyPr wrap="square" lIns="0" tIns="0" rIns="0" bIns="0" rtlCol="0" anchor="ctr">
            <a:normAutofit/>
          </a:bodyPr>
          <a:lstStyle/>
          <a:p>
            <a:pPr algn="l" indent="0" marL="0">
              <a:buNone/>
            </a:pPr>
            <a:r>
              <a:rPr lang="en-US" sz="1250" dirty="0">
                <a:solidFill>
                  <a:srgbClr val="606A7A"/>
                </a:solidFill>
                <a:latin typeface="Noto Sans CJK KR" pitchFamily="34" charset="0"/>
                <a:ea typeface="Noto Sans CJK KR" pitchFamily="34" charset="-122"/>
                <a:cs typeface="Noto Sans CJK KR" pitchFamily="34" charset="-120"/>
              </a:rPr>
              <a:t>끝나지 않은 생각은 작업을 바꾼 뒤에도 일부 남아 있다.</a:t>
            </a:r>
            <a:endParaRPr lang="en-US" sz="1250" dirty="0"/>
          </a:p>
        </p:txBody>
      </p:sp>
      <p:sp>
        <p:nvSpPr>
          <p:cNvPr id="6" name="Shape 4"/>
          <p:cNvSpPr/>
          <p:nvPr/>
        </p:nvSpPr>
        <p:spPr>
          <a:xfrm>
            <a:off x="3063240" y="3538728"/>
            <a:ext cx="1252728" cy="0"/>
          </a:xfrm>
          <a:prstGeom prst="line">
            <a:avLst/>
          </a:prstGeom>
          <a:noFill/>
          <a:ln w="19050">
            <a:solidFill>
              <a:srgbClr val="D9D2C8"/>
            </a:solidFill>
            <a:prstDash val="solid"/>
            <a:tailEnd type="triangle"/>
          </a:ln>
        </p:spPr>
      </p:sp>
      <p:sp>
        <p:nvSpPr>
          <p:cNvPr id="7" name="Shape 5"/>
          <p:cNvSpPr/>
          <p:nvPr/>
        </p:nvSpPr>
        <p:spPr>
          <a:xfrm>
            <a:off x="6748272" y="3538728"/>
            <a:ext cx="1252728" cy="0"/>
          </a:xfrm>
          <a:prstGeom prst="line">
            <a:avLst/>
          </a:prstGeom>
          <a:noFill/>
          <a:ln w="19050">
            <a:solidFill>
              <a:srgbClr val="D9D2C8"/>
            </a:solidFill>
            <a:prstDash val="solid"/>
            <a:tailEnd type="triangle"/>
          </a:ln>
        </p:spPr>
      </p:sp>
      <p:sp>
        <p:nvSpPr>
          <p:cNvPr id="8" name="Shape 6"/>
          <p:cNvSpPr/>
          <p:nvPr/>
        </p:nvSpPr>
        <p:spPr>
          <a:xfrm>
            <a:off x="868680" y="2971800"/>
            <a:ext cx="2176272" cy="1234440"/>
          </a:xfrm>
          <a:prstGeom prst="roundRect">
            <a:avLst>
              <a:gd name="adj" fmla="val 10370"/>
            </a:avLst>
          </a:prstGeom>
          <a:solidFill>
            <a:srgbClr val="DDEAFF"/>
          </a:solidFill>
          <a:ln w="10160">
            <a:solidFill>
              <a:srgbClr val="BBD1FF">
                <a:alpha val="90000"/>
              </a:srgbClr>
            </a:solidFill>
            <a:prstDash val="solid"/>
          </a:ln>
        </p:spPr>
      </p:sp>
      <p:sp>
        <p:nvSpPr>
          <p:cNvPr id="9" name="Text 7"/>
          <p:cNvSpPr/>
          <p:nvPr/>
        </p:nvSpPr>
        <p:spPr>
          <a:xfrm>
            <a:off x="1124712" y="3273552"/>
            <a:ext cx="1645920" cy="228600"/>
          </a:xfrm>
          <a:prstGeom prst="rect">
            <a:avLst/>
          </a:prstGeom>
          <a:noFill/>
          <a:ln/>
        </p:spPr>
        <p:txBody>
          <a:bodyPr wrap="square" lIns="0" tIns="0" rIns="0" bIns="0" rtlCol="0" anchor="ctr">
            <a:normAutofit/>
          </a:bodyPr>
          <a:lstStyle/>
          <a:p>
            <a:pPr algn="ctr" indent="0" marL="0">
              <a:buNone/>
            </a:pPr>
            <a:r>
              <a:rPr lang="en-US" sz="1800" b="1" dirty="0">
                <a:solidFill>
                  <a:srgbClr val="151C26"/>
                </a:solidFill>
                <a:latin typeface="Noto Sans CJK KR" pitchFamily="34" charset="0"/>
                <a:ea typeface="Noto Sans CJK KR" pitchFamily="34" charset="-122"/>
                <a:cs typeface="Noto Sans CJK KR" pitchFamily="34" charset="-120"/>
              </a:rPr>
              <a:t>Task A</a:t>
            </a:r>
            <a:endParaRPr lang="en-US" sz="1800" dirty="0"/>
          </a:p>
        </p:txBody>
      </p:sp>
      <p:sp>
        <p:nvSpPr>
          <p:cNvPr id="10" name="Text 8"/>
          <p:cNvSpPr/>
          <p:nvPr/>
        </p:nvSpPr>
        <p:spPr>
          <a:xfrm>
            <a:off x="1188720" y="3657600"/>
            <a:ext cx="1508760" cy="182880"/>
          </a:xfrm>
          <a:prstGeom prst="rect">
            <a:avLst/>
          </a:prstGeom>
          <a:noFill/>
          <a:ln/>
        </p:spPr>
        <p:txBody>
          <a:bodyPr wrap="square" lIns="0" tIns="0" rIns="0" bIns="0" rtlCol="0" anchor="ctr">
            <a:normAutofit/>
          </a:bodyPr>
          <a:lstStyle/>
          <a:p>
            <a:pPr algn="ctr" indent="0" marL="0">
              <a:buNone/>
            </a:pPr>
            <a:r>
              <a:rPr lang="en-US" sz="900" dirty="0">
                <a:solidFill>
                  <a:srgbClr val="606A7A"/>
                </a:solidFill>
                <a:latin typeface="Noto Sans CJK KR" pitchFamily="34" charset="0"/>
                <a:ea typeface="Noto Sans CJK KR" pitchFamily="34" charset="-122"/>
                <a:cs typeface="Noto Sans CJK KR" pitchFamily="34" charset="-120"/>
              </a:rPr>
              <a:t>보고서 작성</a:t>
            </a:r>
            <a:endParaRPr lang="en-US" sz="900" dirty="0"/>
          </a:p>
        </p:txBody>
      </p:sp>
      <p:sp>
        <p:nvSpPr>
          <p:cNvPr id="11" name="Shape 9"/>
          <p:cNvSpPr/>
          <p:nvPr/>
        </p:nvSpPr>
        <p:spPr>
          <a:xfrm>
            <a:off x="4617720" y="2971800"/>
            <a:ext cx="2176272" cy="1234440"/>
          </a:xfrm>
          <a:prstGeom prst="roundRect">
            <a:avLst>
              <a:gd name="adj" fmla="val 10370"/>
            </a:avLst>
          </a:prstGeom>
          <a:solidFill>
            <a:srgbClr val="FFF0CF"/>
          </a:solidFill>
          <a:ln w="10160">
            <a:solidFill>
              <a:srgbClr val="FFE29C">
                <a:alpha val="90000"/>
              </a:srgbClr>
            </a:solidFill>
            <a:prstDash val="solid"/>
          </a:ln>
        </p:spPr>
      </p:sp>
      <p:sp>
        <p:nvSpPr>
          <p:cNvPr id="12" name="Text 10"/>
          <p:cNvSpPr/>
          <p:nvPr/>
        </p:nvSpPr>
        <p:spPr>
          <a:xfrm>
            <a:off x="4873752" y="3273552"/>
            <a:ext cx="1645920" cy="228600"/>
          </a:xfrm>
          <a:prstGeom prst="rect">
            <a:avLst/>
          </a:prstGeom>
          <a:noFill/>
          <a:ln/>
        </p:spPr>
        <p:txBody>
          <a:bodyPr wrap="square" lIns="0" tIns="0" rIns="0" bIns="0" rtlCol="0" anchor="ctr">
            <a:normAutofit/>
          </a:bodyPr>
          <a:lstStyle/>
          <a:p>
            <a:pPr algn="ctr" indent="0" marL="0">
              <a:buNone/>
            </a:pPr>
            <a:r>
              <a:rPr lang="en-US" sz="1800" b="1" dirty="0">
                <a:solidFill>
                  <a:srgbClr val="151C26"/>
                </a:solidFill>
                <a:latin typeface="Noto Sans CJK KR" pitchFamily="34" charset="0"/>
                <a:ea typeface="Noto Sans CJK KR" pitchFamily="34" charset="-122"/>
                <a:cs typeface="Noto Sans CJK KR" pitchFamily="34" charset="-120"/>
              </a:rPr>
              <a:t>알림</a:t>
            </a:r>
            <a:endParaRPr lang="en-US" sz="1800" dirty="0"/>
          </a:p>
        </p:txBody>
      </p:sp>
      <p:sp>
        <p:nvSpPr>
          <p:cNvPr id="13" name="Text 11"/>
          <p:cNvSpPr/>
          <p:nvPr/>
        </p:nvSpPr>
        <p:spPr>
          <a:xfrm>
            <a:off x="4937760" y="3657600"/>
            <a:ext cx="1508760" cy="182880"/>
          </a:xfrm>
          <a:prstGeom prst="rect">
            <a:avLst/>
          </a:prstGeom>
          <a:noFill/>
          <a:ln/>
        </p:spPr>
        <p:txBody>
          <a:bodyPr wrap="square" lIns="0" tIns="0" rIns="0" bIns="0" rtlCol="0" anchor="ctr">
            <a:normAutofit/>
          </a:bodyPr>
          <a:lstStyle/>
          <a:p>
            <a:pPr algn="ctr" indent="0" marL="0">
              <a:buNone/>
            </a:pPr>
            <a:r>
              <a:rPr lang="en-US" sz="900" dirty="0">
                <a:solidFill>
                  <a:srgbClr val="606A7A"/>
                </a:solidFill>
                <a:latin typeface="Noto Sans CJK KR" pitchFamily="34" charset="0"/>
                <a:ea typeface="Noto Sans CJK KR" pitchFamily="34" charset="-122"/>
                <a:cs typeface="Noto Sans CJK KR" pitchFamily="34" charset="-120"/>
              </a:rPr>
              <a:t>메시지 확인</a:t>
            </a:r>
            <a:endParaRPr lang="en-US" sz="900" dirty="0"/>
          </a:p>
        </p:txBody>
      </p:sp>
      <p:sp>
        <p:nvSpPr>
          <p:cNvPr id="14" name="Shape 12"/>
          <p:cNvSpPr/>
          <p:nvPr/>
        </p:nvSpPr>
        <p:spPr>
          <a:xfrm>
            <a:off x="8321040" y="2971800"/>
            <a:ext cx="2176272" cy="1234440"/>
          </a:xfrm>
          <a:prstGeom prst="roundRect">
            <a:avLst>
              <a:gd name="adj" fmla="val 10370"/>
            </a:avLst>
          </a:prstGeom>
          <a:solidFill>
            <a:srgbClr val="DFF5EA"/>
          </a:solidFill>
          <a:ln w="10160">
            <a:solidFill>
              <a:srgbClr val="BCE6D4">
                <a:alpha val="90000"/>
              </a:srgbClr>
            </a:solidFill>
            <a:prstDash val="solid"/>
          </a:ln>
        </p:spPr>
      </p:sp>
      <p:sp>
        <p:nvSpPr>
          <p:cNvPr id="15" name="Text 13"/>
          <p:cNvSpPr/>
          <p:nvPr/>
        </p:nvSpPr>
        <p:spPr>
          <a:xfrm>
            <a:off x="8577072" y="3273552"/>
            <a:ext cx="1645920" cy="228600"/>
          </a:xfrm>
          <a:prstGeom prst="rect">
            <a:avLst/>
          </a:prstGeom>
          <a:noFill/>
          <a:ln/>
        </p:spPr>
        <p:txBody>
          <a:bodyPr wrap="square" lIns="0" tIns="0" rIns="0" bIns="0" rtlCol="0" anchor="ctr">
            <a:normAutofit/>
          </a:bodyPr>
          <a:lstStyle/>
          <a:p>
            <a:pPr algn="ctr" indent="0" marL="0">
              <a:buNone/>
            </a:pPr>
            <a:r>
              <a:rPr lang="en-US" sz="1800" b="1" dirty="0">
                <a:solidFill>
                  <a:srgbClr val="151C26"/>
                </a:solidFill>
                <a:latin typeface="Noto Sans CJK KR" pitchFamily="34" charset="0"/>
                <a:ea typeface="Noto Sans CJK KR" pitchFamily="34" charset="-122"/>
                <a:cs typeface="Noto Sans CJK KR" pitchFamily="34" charset="-120"/>
              </a:rPr>
              <a:t>Task A 복귀</a:t>
            </a:r>
            <a:endParaRPr lang="en-US" sz="1800" dirty="0"/>
          </a:p>
        </p:txBody>
      </p:sp>
      <p:sp>
        <p:nvSpPr>
          <p:cNvPr id="16" name="Text 14"/>
          <p:cNvSpPr/>
          <p:nvPr/>
        </p:nvSpPr>
        <p:spPr>
          <a:xfrm>
            <a:off x="8641080" y="3657600"/>
            <a:ext cx="1508760" cy="182880"/>
          </a:xfrm>
          <a:prstGeom prst="rect">
            <a:avLst/>
          </a:prstGeom>
          <a:noFill/>
          <a:ln/>
        </p:spPr>
        <p:txBody>
          <a:bodyPr wrap="square" lIns="0" tIns="0" rIns="0" bIns="0" rtlCol="0" anchor="ctr">
            <a:normAutofit/>
          </a:bodyPr>
          <a:lstStyle/>
          <a:p>
            <a:pPr algn="ctr" indent="0" marL="0">
              <a:buNone/>
            </a:pPr>
            <a:r>
              <a:rPr lang="en-US" sz="900" dirty="0">
                <a:solidFill>
                  <a:srgbClr val="606A7A"/>
                </a:solidFill>
                <a:latin typeface="Noto Sans CJK KR" pitchFamily="34" charset="0"/>
                <a:ea typeface="Noto Sans CJK KR" pitchFamily="34" charset="-122"/>
                <a:cs typeface="Noto Sans CJK KR" pitchFamily="34" charset="-120"/>
              </a:rPr>
              <a:t>맥락 재구성</a:t>
            </a:r>
            <a:endParaRPr lang="en-US" sz="900" dirty="0"/>
          </a:p>
        </p:txBody>
      </p:sp>
      <p:sp>
        <p:nvSpPr>
          <p:cNvPr id="17" name="Shape 15"/>
          <p:cNvSpPr/>
          <p:nvPr/>
        </p:nvSpPr>
        <p:spPr>
          <a:xfrm>
            <a:off x="1371600" y="4846320"/>
            <a:ext cx="9509760" cy="713232"/>
          </a:xfrm>
          <a:prstGeom prst="roundRect">
            <a:avLst>
              <a:gd name="adj" fmla="val 17949"/>
            </a:avLst>
          </a:prstGeom>
          <a:solidFill>
            <a:srgbClr val="FFFCF7"/>
          </a:solidFill>
          <a:ln w="10160">
            <a:solidFill>
              <a:srgbClr val="E8DFD4">
                <a:alpha val="90000"/>
              </a:srgbClr>
            </a:solidFill>
            <a:prstDash val="solid"/>
          </a:ln>
        </p:spPr>
      </p:sp>
      <p:sp>
        <p:nvSpPr>
          <p:cNvPr id="18" name="Text 16"/>
          <p:cNvSpPr/>
          <p:nvPr/>
        </p:nvSpPr>
        <p:spPr>
          <a:xfrm>
            <a:off x="1737360" y="5029200"/>
            <a:ext cx="1874520" cy="164592"/>
          </a:xfrm>
          <a:prstGeom prst="rect">
            <a:avLst/>
          </a:prstGeom>
          <a:noFill/>
          <a:ln/>
        </p:spPr>
        <p:txBody>
          <a:bodyPr wrap="square" lIns="0" tIns="0" rIns="0" bIns="0" rtlCol="0" anchor="ctr">
            <a:normAutofit/>
          </a:bodyPr>
          <a:lstStyle/>
          <a:p>
            <a:pPr algn="l" indent="0" marL="0">
              <a:buNone/>
            </a:pPr>
            <a:r>
              <a:rPr lang="en-US" sz="1400" b="1" dirty="0">
                <a:solidFill>
                  <a:srgbClr val="235CFF"/>
                </a:solidFill>
                <a:latin typeface="Noto Sans CJK KR" pitchFamily="34" charset="0"/>
                <a:ea typeface="Noto Sans CJK KR" pitchFamily="34" charset="-122"/>
                <a:cs typeface="Noto Sans CJK KR" pitchFamily="34" charset="-120"/>
              </a:rPr>
              <a:t>Attention residue</a:t>
            </a:r>
            <a:endParaRPr lang="en-US" sz="1400" dirty="0"/>
          </a:p>
        </p:txBody>
      </p:sp>
      <p:sp>
        <p:nvSpPr>
          <p:cNvPr id="19" name="Text 17"/>
          <p:cNvSpPr/>
          <p:nvPr/>
        </p:nvSpPr>
        <p:spPr>
          <a:xfrm>
            <a:off x="3886200" y="5029200"/>
            <a:ext cx="6400800" cy="164592"/>
          </a:xfrm>
          <a:prstGeom prst="rect">
            <a:avLst/>
          </a:prstGeom>
          <a:noFill/>
          <a:ln/>
        </p:spPr>
        <p:txBody>
          <a:bodyPr wrap="square" lIns="0" tIns="0" rIns="0" bIns="0" rtlCol="0" anchor="ctr">
            <a:normAutofit/>
          </a:bodyPr>
          <a:lstStyle/>
          <a:p>
            <a:pPr algn="l" indent="0" marL="0">
              <a:buNone/>
            </a:pPr>
            <a:r>
              <a:rPr lang="en-US" sz="1200" dirty="0">
                <a:solidFill>
                  <a:srgbClr val="151C26"/>
                </a:solidFill>
                <a:latin typeface="Noto Sans CJK KR" pitchFamily="34" charset="0"/>
                <a:ea typeface="Noto Sans CJK KR" pitchFamily="34" charset="-122"/>
                <a:cs typeface="Noto Sans CJK KR" pitchFamily="34" charset="-120"/>
              </a:rPr>
              <a:t>작업을 바꾼 뒤에도 이전 작업에 대한 생각이 남아 다음 수행을 방해하는 현상</a:t>
            </a:r>
            <a:endParaRPr lang="en-US" sz="1200" dirty="0"/>
          </a:p>
        </p:txBody>
      </p:sp>
      <p:sp>
        <p:nvSpPr>
          <p:cNvPr id="20" name="Text 18"/>
          <p:cNvSpPr/>
          <p:nvPr/>
        </p:nvSpPr>
        <p:spPr>
          <a:xfrm>
            <a:off x="658368" y="6528816"/>
            <a:ext cx="10607040" cy="146304"/>
          </a:xfrm>
          <a:prstGeom prst="rect">
            <a:avLst/>
          </a:prstGeom>
          <a:noFill/>
          <a:ln/>
        </p:spPr>
        <p:txBody>
          <a:bodyPr wrap="square" lIns="0" tIns="0" rIns="0" bIns="0" rtlCol="0" anchor="ctr">
            <a:normAutofit/>
          </a:bodyPr>
          <a:lstStyle/>
          <a:p>
            <a:pPr algn="l" indent="0" marL="0">
              <a:buNone/>
            </a:pPr>
            <a:r>
              <a:rPr lang="en-US" sz="650" dirty="0">
                <a:solidFill>
                  <a:srgbClr val="9AA1AC"/>
                </a:solidFill>
                <a:latin typeface="Noto Sans CJK KR" pitchFamily="34" charset="0"/>
                <a:ea typeface="Noto Sans CJK KR" pitchFamily="34" charset="-122"/>
                <a:cs typeface="Noto Sans CJK KR" pitchFamily="34" charset="-120"/>
              </a:rPr>
              <a:t>Leroy, Organizational Behavior and Human Decision Processes, 2009; DOI 10.1016/j.obhdp.2009.04.002</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CF7"/>
        </a:solidFill>
      </p:bgPr>
    </p:bg>
    <p:spTree>
      <p:nvGrpSpPr>
        <p:cNvPr id="1" name=""/>
        <p:cNvGrpSpPr/>
        <p:nvPr/>
      </p:nvGrpSpPr>
      <p:grpSpPr>
        <a:xfrm>
          <a:off x="0" y="0"/>
          <a:ext cx="0" cy="0"/>
          <a:chOff x="0" y="0"/>
          <a:chExt cx="0" cy="0"/>
        </a:xfrm>
      </p:grpSpPr>
      <p:sp>
        <p:nvSpPr>
          <p:cNvPr id="2" name="Text 0"/>
          <p:cNvSpPr/>
          <p:nvPr/>
        </p:nvSpPr>
        <p:spPr>
          <a:xfrm>
            <a:off x="640080" y="347472"/>
            <a:ext cx="3840480" cy="219456"/>
          </a:xfrm>
          <a:prstGeom prst="rect">
            <a:avLst/>
          </a:prstGeom>
          <a:noFill/>
          <a:ln/>
        </p:spPr>
        <p:txBody>
          <a:bodyPr wrap="square" lIns="0" tIns="0" rIns="0" bIns="0" rtlCol="0" anchor="ctr">
            <a:normAutofit/>
          </a:bodyPr>
          <a:lstStyle/>
          <a:p>
            <a:pPr algn="l" indent="0" marL="0">
              <a:buNone/>
            </a:pPr>
            <a:r>
              <a:rPr lang="en-US" sz="800" b="1" dirty="0">
                <a:solidFill>
                  <a:srgbClr val="235CFF"/>
                </a:solidFill>
                <a:latin typeface="Noto Sans CJK KR" pitchFamily="34" charset="0"/>
                <a:ea typeface="Noto Sans CJK KR" pitchFamily="34" charset="-122"/>
                <a:cs typeface="Noto Sans CJK KR" pitchFamily="34" charset="-120"/>
              </a:rPr>
              <a:t>INSIGHT</a:t>
            </a:r>
            <a:endParaRPr lang="en-US" sz="800" dirty="0"/>
          </a:p>
        </p:txBody>
      </p:sp>
      <p:sp>
        <p:nvSpPr>
          <p:cNvPr id="3" name="Text 1"/>
          <p:cNvSpPr/>
          <p:nvPr/>
        </p:nvSpPr>
        <p:spPr>
          <a:xfrm>
            <a:off x="11109960" y="320040"/>
            <a:ext cx="548640" cy="201168"/>
          </a:xfrm>
          <a:prstGeom prst="rect">
            <a:avLst/>
          </a:prstGeom>
          <a:noFill/>
          <a:ln/>
        </p:spPr>
        <p:txBody>
          <a:bodyPr wrap="square" lIns="0" tIns="0" rIns="0" bIns="0" rtlCol="0" anchor="ctr">
            <a:normAutofit/>
          </a:bodyPr>
          <a:lstStyle/>
          <a:p>
            <a:pPr algn="r" indent="0" marL="0">
              <a:buNone/>
            </a:pPr>
            <a:r>
              <a:rPr lang="en-US" sz="800" b="1" dirty="0">
                <a:solidFill>
                  <a:srgbClr val="606A7A"/>
                </a:solidFill>
                <a:latin typeface="Noto Sans CJK KR" pitchFamily="34" charset="0"/>
                <a:ea typeface="Noto Sans CJK KR" pitchFamily="34" charset="-122"/>
                <a:cs typeface="Noto Sans CJK KR" pitchFamily="34" charset="-120"/>
              </a:rPr>
              <a:t>08</a:t>
            </a:r>
            <a:endParaRPr lang="en-US" sz="800" dirty="0"/>
          </a:p>
        </p:txBody>
      </p:sp>
      <p:sp>
        <p:nvSpPr>
          <p:cNvPr id="4" name="Text 2"/>
          <p:cNvSpPr/>
          <p:nvPr/>
        </p:nvSpPr>
        <p:spPr>
          <a:xfrm>
            <a:off x="640080" y="713232"/>
            <a:ext cx="8869680" cy="676656"/>
          </a:xfrm>
          <a:prstGeom prst="rect">
            <a:avLst/>
          </a:prstGeom>
          <a:noFill/>
          <a:ln/>
        </p:spPr>
        <p:txBody>
          <a:bodyPr wrap="square" lIns="0" tIns="0" rIns="0" bIns="0" rtlCol="0" anchor="ctr">
            <a:normAutofit/>
          </a:bodyPr>
          <a:lstStyle/>
          <a:p>
            <a:pPr algn="l" indent="0" marL="0">
              <a:buNone/>
            </a:pPr>
            <a:r>
              <a:rPr lang="en-US" sz="2900" b="1" dirty="0">
                <a:solidFill>
                  <a:srgbClr val="151C26"/>
                </a:solidFill>
                <a:latin typeface="Noto Sans CJK KR" pitchFamily="34" charset="0"/>
                <a:ea typeface="Noto Sans CJK KR" pitchFamily="34" charset="-122"/>
                <a:cs typeface="Noto Sans CJK KR" pitchFamily="34" charset="-120"/>
              </a:rPr>
              <a:t>손실은 “시간”보다 “흐름”에서 커진다</a:t>
            </a:r>
            <a:endParaRPr lang="en-US" sz="2900" dirty="0"/>
          </a:p>
        </p:txBody>
      </p:sp>
      <p:sp>
        <p:nvSpPr>
          <p:cNvPr id="5" name="Text 3"/>
          <p:cNvSpPr/>
          <p:nvPr/>
        </p:nvSpPr>
        <p:spPr>
          <a:xfrm>
            <a:off x="658368" y="1481328"/>
            <a:ext cx="7315200" cy="329184"/>
          </a:xfrm>
          <a:prstGeom prst="rect">
            <a:avLst/>
          </a:prstGeom>
          <a:noFill/>
          <a:ln/>
        </p:spPr>
        <p:txBody>
          <a:bodyPr wrap="square" lIns="0" tIns="0" rIns="0" bIns="0" rtlCol="0" anchor="ctr">
            <a:normAutofit/>
          </a:bodyPr>
          <a:lstStyle/>
          <a:p>
            <a:pPr algn="l" indent="0" marL="0">
              <a:buNone/>
            </a:pPr>
            <a:r>
              <a:rPr lang="en-US" sz="1250" dirty="0">
                <a:solidFill>
                  <a:srgbClr val="606A7A"/>
                </a:solidFill>
                <a:latin typeface="Noto Sans CJK KR" pitchFamily="34" charset="0"/>
                <a:ea typeface="Noto Sans CJK KR" pitchFamily="34" charset="-122"/>
                <a:cs typeface="Noto Sans CJK KR" pitchFamily="34" charset="-120"/>
              </a:rPr>
              <a:t>알림 확인은 짧지만, 작업 맥락 복구는 보이지 않는 비용이다.</a:t>
            </a:r>
            <a:endParaRPr lang="en-US" sz="1250" dirty="0"/>
          </a:p>
        </p:txBody>
      </p:sp>
      <p:sp>
        <p:nvSpPr>
          <p:cNvPr id="6" name="Text 4"/>
          <p:cNvSpPr/>
          <p:nvPr/>
        </p:nvSpPr>
        <p:spPr>
          <a:xfrm>
            <a:off x="987552" y="1965960"/>
            <a:ext cx="2743200" cy="256032"/>
          </a:xfrm>
          <a:prstGeom prst="rect">
            <a:avLst/>
          </a:prstGeom>
          <a:noFill/>
          <a:ln/>
        </p:spPr>
        <p:txBody>
          <a:bodyPr wrap="square" lIns="0" tIns="0" rIns="0" bIns="0" rtlCol="0" anchor="ctr">
            <a:normAutofit/>
          </a:bodyPr>
          <a:lstStyle/>
          <a:p>
            <a:pPr algn="l" indent="0" marL="0">
              <a:buNone/>
            </a:pPr>
            <a:r>
              <a:rPr lang="en-US" sz="1600" b="1" dirty="0">
                <a:solidFill>
                  <a:srgbClr val="606A7A"/>
                </a:solidFill>
                <a:latin typeface="Noto Sans CJK KR" pitchFamily="34" charset="0"/>
                <a:ea typeface="Noto Sans CJK KR" pitchFamily="34" charset="-122"/>
                <a:cs typeface="Noto Sans CJK KR" pitchFamily="34" charset="-120"/>
              </a:rPr>
              <a:t>눈에 보이는 손실</a:t>
            </a:r>
            <a:endParaRPr lang="en-US" sz="1600" dirty="0"/>
          </a:p>
        </p:txBody>
      </p:sp>
      <p:sp>
        <p:nvSpPr>
          <p:cNvPr id="7" name="Text 5"/>
          <p:cNvSpPr/>
          <p:nvPr/>
        </p:nvSpPr>
        <p:spPr>
          <a:xfrm>
            <a:off x="960120" y="2487168"/>
            <a:ext cx="2011680" cy="731520"/>
          </a:xfrm>
          <a:prstGeom prst="rect">
            <a:avLst/>
          </a:prstGeom>
          <a:noFill/>
          <a:ln/>
        </p:spPr>
        <p:txBody>
          <a:bodyPr wrap="square" lIns="0" tIns="0" rIns="0" bIns="0" rtlCol="0" anchor="ctr">
            <a:normAutofit/>
          </a:bodyPr>
          <a:lstStyle/>
          <a:p>
            <a:pPr algn="l" indent="0" marL="0">
              <a:buNone/>
            </a:pPr>
            <a:r>
              <a:rPr lang="en-US" sz="5800" b="1" dirty="0">
                <a:solidFill>
                  <a:srgbClr val="F2545B"/>
                </a:solidFill>
                <a:latin typeface="Noto Sans CJK KR" pitchFamily="34" charset="0"/>
                <a:ea typeface="Noto Sans CJK KR" pitchFamily="34" charset="-122"/>
                <a:cs typeface="Noto Sans CJK KR" pitchFamily="34" charset="-120"/>
              </a:rPr>
              <a:t>5초</a:t>
            </a:r>
            <a:endParaRPr lang="en-US" sz="5800" dirty="0"/>
          </a:p>
        </p:txBody>
      </p:sp>
      <p:sp>
        <p:nvSpPr>
          <p:cNvPr id="8" name="Text 6"/>
          <p:cNvSpPr/>
          <p:nvPr/>
        </p:nvSpPr>
        <p:spPr>
          <a:xfrm>
            <a:off x="987552" y="3456432"/>
            <a:ext cx="3063240" cy="438912"/>
          </a:xfrm>
          <a:prstGeom prst="rect">
            <a:avLst/>
          </a:prstGeom>
          <a:noFill/>
          <a:ln/>
        </p:spPr>
        <p:txBody>
          <a:bodyPr wrap="square" lIns="0" tIns="0" rIns="0" bIns="0" rtlCol="0" anchor="ctr">
            <a:normAutofit/>
          </a:bodyPr>
          <a:lstStyle/>
          <a:p>
            <a:pPr algn="l" indent="0" marL="0">
              <a:buNone/>
            </a:pPr>
            <a:r>
              <a:rPr lang="en-US" sz="1600" dirty="0">
                <a:solidFill>
                  <a:srgbClr val="151C26"/>
                </a:solidFill>
                <a:latin typeface="Noto Sans CJK KR" pitchFamily="34" charset="0"/>
                <a:ea typeface="Noto Sans CJK KR" pitchFamily="34" charset="-122"/>
                <a:cs typeface="Noto Sans CJK KR" pitchFamily="34" charset="-120"/>
              </a:rPr>
              <a:t>메시지를 보고</a:t>
            </a:r>
            <a:endParaRPr lang="en-US" sz="1600" dirty="0"/>
          </a:p>
          <a:p>
            <a:pPr algn="l" indent="0" marL="0">
              <a:buNone/>
            </a:pPr>
            <a:r>
              <a:rPr lang="en-US" sz="1600" dirty="0">
                <a:solidFill>
                  <a:srgbClr val="151C26"/>
                </a:solidFill>
                <a:latin typeface="Noto Sans CJK KR" pitchFamily="34" charset="0"/>
                <a:ea typeface="Noto Sans CJK KR" pitchFamily="34" charset="-122"/>
                <a:cs typeface="Noto Sans CJK KR" pitchFamily="34" charset="-120"/>
              </a:rPr>
              <a:t>다시 앱을 닫는 시간</a:t>
            </a:r>
            <a:endParaRPr lang="en-US" sz="1600" dirty="0"/>
          </a:p>
        </p:txBody>
      </p:sp>
      <p:sp>
        <p:nvSpPr>
          <p:cNvPr id="9" name="Shape 7"/>
          <p:cNvSpPr/>
          <p:nvPr/>
        </p:nvSpPr>
        <p:spPr>
          <a:xfrm>
            <a:off x="5029200" y="2011680"/>
            <a:ext cx="0" cy="3108960"/>
          </a:xfrm>
          <a:prstGeom prst="line">
            <a:avLst/>
          </a:prstGeom>
          <a:noFill/>
          <a:ln w="12700">
            <a:solidFill>
              <a:srgbClr val="D9D2C8"/>
            </a:solidFill>
            <a:prstDash val="solid"/>
          </a:ln>
        </p:spPr>
      </p:sp>
      <p:sp>
        <p:nvSpPr>
          <p:cNvPr id="10" name="Text 8"/>
          <p:cNvSpPr/>
          <p:nvPr/>
        </p:nvSpPr>
        <p:spPr>
          <a:xfrm>
            <a:off x="5806440" y="1965960"/>
            <a:ext cx="2194560" cy="256032"/>
          </a:xfrm>
          <a:prstGeom prst="rect">
            <a:avLst/>
          </a:prstGeom>
          <a:noFill/>
          <a:ln/>
        </p:spPr>
        <p:txBody>
          <a:bodyPr wrap="square" lIns="0" tIns="0" rIns="0" bIns="0" rtlCol="0" anchor="ctr">
            <a:normAutofit/>
          </a:bodyPr>
          <a:lstStyle/>
          <a:p>
            <a:pPr algn="l" indent="0" marL="0">
              <a:buNone/>
            </a:pPr>
            <a:r>
              <a:rPr lang="en-US" sz="1600" b="1" dirty="0">
                <a:solidFill>
                  <a:srgbClr val="606A7A"/>
                </a:solidFill>
                <a:latin typeface="Noto Sans CJK KR" pitchFamily="34" charset="0"/>
                <a:ea typeface="Noto Sans CJK KR" pitchFamily="34" charset="-122"/>
                <a:cs typeface="Noto Sans CJK KR" pitchFamily="34" charset="-120"/>
              </a:rPr>
              <a:t>진짜 손실</a:t>
            </a:r>
            <a:endParaRPr lang="en-US" sz="1600" dirty="0"/>
          </a:p>
        </p:txBody>
      </p:sp>
      <p:sp>
        <p:nvSpPr>
          <p:cNvPr id="11" name="Text 9"/>
          <p:cNvSpPr/>
          <p:nvPr/>
        </p:nvSpPr>
        <p:spPr>
          <a:xfrm>
            <a:off x="5779008" y="2487168"/>
            <a:ext cx="3383280" cy="658368"/>
          </a:xfrm>
          <a:prstGeom prst="rect">
            <a:avLst/>
          </a:prstGeom>
          <a:noFill/>
          <a:ln/>
        </p:spPr>
        <p:txBody>
          <a:bodyPr wrap="square" lIns="0" tIns="0" rIns="0" bIns="0" rtlCol="0" anchor="ctr">
            <a:normAutofit/>
          </a:bodyPr>
          <a:lstStyle/>
          <a:p>
            <a:pPr algn="l" indent="0" marL="0">
              <a:buNone/>
            </a:pPr>
            <a:r>
              <a:rPr lang="en-US" sz="4600" b="1" dirty="0">
                <a:solidFill>
                  <a:srgbClr val="235CFF"/>
                </a:solidFill>
                <a:latin typeface="Noto Sans CJK KR" pitchFamily="34" charset="0"/>
                <a:ea typeface="Noto Sans CJK KR" pitchFamily="34" charset="-122"/>
                <a:cs typeface="Noto Sans CJK KR" pitchFamily="34" charset="-120"/>
              </a:rPr>
              <a:t>맥락 복구</a:t>
            </a:r>
            <a:endParaRPr lang="en-US" sz="4600" dirty="0"/>
          </a:p>
        </p:txBody>
      </p:sp>
      <p:sp>
        <p:nvSpPr>
          <p:cNvPr id="12" name="Text 10"/>
          <p:cNvSpPr/>
          <p:nvPr/>
        </p:nvSpPr>
        <p:spPr>
          <a:xfrm>
            <a:off x="5897880" y="3520440"/>
            <a:ext cx="3749040" cy="914400"/>
          </a:xfrm>
          <a:prstGeom prst="rect">
            <a:avLst/>
          </a:prstGeom>
          <a:noFill/>
          <a:ln/>
        </p:spPr>
        <p:txBody>
          <a:bodyPr wrap="square" lIns="254" tIns="254" rIns="254" bIns="254" rtlCol="0" anchor="t">
            <a:normAutofit/>
          </a:bodyPr>
          <a:lstStyle/>
          <a:p>
            <a:pPr indent="0" marL="0">
              <a:buNone/>
            </a:pPr>
            <a:r>
              <a:rPr lang="en-US" sz="1500" dirty="0">
                <a:solidFill>
                  <a:srgbClr val="151C26"/>
                </a:solidFill>
                <a:latin typeface="Noto Sans CJK KR" pitchFamily="34" charset="0"/>
                <a:ea typeface="Noto Sans CJK KR" pitchFamily="34" charset="-122"/>
                <a:cs typeface="Noto Sans CJK KR" pitchFamily="34" charset="-120"/>
              </a:rPr>
              <a:t>• 어디까지 읽었지?
</a:t>
            </a:r>
            <a:pPr indent="0" marL="0">
              <a:buNone/>
            </a:pPr>
            <a:r>
              <a:rPr lang="en-US" sz="1500" dirty="0">
                <a:solidFill>
                  <a:srgbClr val="151C26"/>
                </a:solidFill>
                <a:latin typeface="Noto Sans CJK KR" pitchFamily="34" charset="0"/>
                <a:ea typeface="Noto Sans CJK KR" pitchFamily="34" charset="-122"/>
                <a:cs typeface="Noto Sans CJK KR" pitchFamily="34" charset="-120"/>
              </a:rPr>
              <a:t>• 다음에 뭘 하려 했지?
</a:t>
            </a:r>
            <a:pPr indent="0" marL="0">
              <a:buNone/>
            </a:pPr>
            <a:r>
              <a:rPr lang="en-US" sz="1500" dirty="0">
                <a:solidFill>
                  <a:srgbClr val="151C26"/>
                </a:solidFill>
                <a:latin typeface="Noto Sans CJK KR" pitchFamily="34" charset="0"/>
                <a:ea typeface="Noto Sans CJK KR" pitchFamily="34" charset="-122"/>
                <a:cs typeface="Noto Sans CJK KR" pitchFamily="34" charset="-120"/>
              </a:rPr>
              <a:t>• 방금 떠올린 생각이 뭐였지?</a:t>
            </a:r>
            <a:endParaRPr lang="en-US" sz="1500" dirty="0"/>
          </a:p>
        </p:txBody>
      </p:sp>
      <p:sp>
        <p:nvSpPr>
          <p:cNvPr id="13" name="Text 11"/>
          <p:cNvSpPr/>
          <p:nvPr/>
        </p:nvSpPr>
        <p:spPr>
          <a:xfrm>
            <a:off x="1325880" y="5742432"/>
            <a:ext cx="9601200" cy="347472"/>
          </a:xfrm>
          <a:prstGeom prst="rect">
            <a:avLst/>
          </a:prstGeom>
          <a:noFill/>
          <a:ln/>
        </p:spPr>
        <p:txBody>
          <a:bodyPr wrap="square" lIns="0" tIns="0" rIns="0" bIns="0" rtlCol="0" anchor="ctr">
            <a:normAutofit/>
          </a:bodyPr>
          <a:lstStyle/>
          <a:p>
            <a:pPr algn="ctr" indent="0" marL="0">
              <a:buNone/>
            </a:pPr>
            <a:r>
              <a:rPr lang="en-US" sz="2000" b="1" dirty="0">
                <a:solidFill>
                  <a:srgbClr val="235CFF"/>
                </a:solidFill>
                <a:latin typeface="Noto Sans CJK KR" pitchFamily="34" charset="0"/>
                <a:ea typeface="Noto Sans CJK KR" pitchFamily="34" charset="-122"/>
                <a:cs typeface="Noto Sans CJK KR" pitchFamily="34" charset="-120"/>
              </a:rPr>
              <a:t>핵심은 알림의 길이가 아니라,</a:t>
            </a:r>
            <a:endParaRPr lang="en-US" sz="2000" dirty="0"/>
          </a:p>
          <a:p>
            <a:pPr algn="ctr" indent="0" marL="0">
              <a:buNone/>
            </a:pPr>
            <a:r>
              <a:rPr lang="en-US" sz="2000" b="1" dirty="0">
                <a:solidFill>
                  <a:srgbClr val="235CFF"/>
                </a:solidFill>
                <a:latin typeface="Noto Sans CJK KR" pitchFamily="34" charset="0"/>
                <a:ea typeface="Noto Sans CJK KR" pitchFamily="34" charset="-122"/>
                <a:cs typeface="Noto Sans CJK KR" pitchFamily="34" charset="-120"/>
              </a:rPr>
              <a:t>복구해야 하는 생각의 양이다.</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0E8"/>
        </a:solidFill>
      </p:bgPr>
    </p:bg>
    <p:spTree>
      <p:nvGrpSpPr>
        <p:cNvPr id="1" name=""/>
        <p:cNvGrpSpPr/>
        <p:nvPr/>
      </p:nvGrpSpPr>
      <p:grpSpPr>
        <a:xfrm>
          <a:off x="0" y="0"/>
          <a:ext cx="0" cy="0"/>
          <a:chOff x="0" y="0"/>
          <a:chExt cx="0" cy="0"/>
        </a:xfrm>
      </p:grpSpPr>
      <p:sp>
        <p:nvSpPr>
          <p:cNvPr id="2" name="Text 0"/>
          <p:cNvSpPr/>
          <p:nvPr/>
        </p:nvSpPr>
        <p:spPr>
          <a:xfrm>
            <a:off x="640080" y="347472"/>
            <a:ext cx="3840480" cy="219456"/>
          </a:xfrm>
          <a:prstGeom prst="rect">
            <a:avLst/>
          </a:prstGeom>
          <a:noFill/>
          <a:ln/>
        </p:spPr>
        <p:txBody>
          <a:bodyPr wrap="square" lIns="0" tIns="0" rIns="0" bIns="0" rtlCol="0" anchor="ctr">
            <a:normAutofit/>
          </a:bodyPr>
          <a:lstStyle/>
          <a:p>
            <a:pPr algn="l" indent="0" marL="0">
              <a:buNone/>
            </a:pPr>
            <a:r>
              <a:rPr lang="en-US" sz="800" b="1" dirty="0">
                <a:solidFill>
                  <a:srgbClr val="235CFF"/>
                </a:solidFill>
                <a:latin typeface="Noto Sans CJK KR" pitchFamily="34" charset="0"/>
                <a:ea typeface="Noto Sans CJK KR" pitchFamily="34" charset="-122"/>
                <a:cs typeface="Noto Sans CJK KR" pitchFamily="34" charset="-120"/>
              </a:rPr>
              <a:t>SOLUTION</a:t>
            </a:r>
            <a:endParaRPr lang="en-US" sz="800" dirty="0"/>
          </a:p>
        </p:txBody>
      </p:sp>
      <p:sp>
        <p:nvSpPr>
          <p:cNvPr id="3" name="Text 1"/>
          <p:cNvSpPr/>
          <p:nvPr/>
        </p:nvSpPr>
        <p:spPr>
          <a:xfrm>
            <a:off x="11109960" y="320040"/>
            <a:ext cx="548640" cy="201168"/>
          </a:xfrm>
          <a:prstGeom prst="rect">
            <a:avLst/>
          </a:prstGeom>
          <a:noFill/>
          <a:ln/>
        </p:spPr>
        <p:txBody>
          <a:bodyPr wrap="square" lIns="0" tIns="0" rIns="0" bIns="0" rtlCol="0" anchor="ctr">
            <a:normAutofit/>
          </a:bodyPr>
          <a:lstStyle/>
          <a:p>
            <a:pPr algn="r" indent="0" marL="0">
              <a:buNone/>
            </a:pPr>
            <a:r>
              <a:rPr lang="en-US" sz="800" b="1" dirty="0">
                <a:solidFill>
                  <a:srgbClr val="606A7A"/>
                </a:solidFill>
                <a:latin typeface="Noto Sans CJK KR" pitchFamily="34" charset="0"/>
                <a:ea typeface="Noto Sans CJK KR" pitchFamily="34" charset="-122"/>
                <a:cs typeface="Noto Sans CJK KR" pitchFamily="34" charset="-120"/>
              </a:rPr>
              <a:t>09</a:t>
            </a:r>
            <a:endParaRPr lang="en-US" sz="800" dirty="0"/>
          </a:p>
        </p:txBody>
      </p:sp>
      <p:sp>
        <p:nvSpPr>
          <p:cNvPr id="4" name="Text 2"/>
          <p:cNvSpPr/>
          <p:nvPr/>
        </p:nvSpPr>
        <p:spPr>
          <a:xfrm>
            <a:off x="640080" y="713232"/>
            <a:ext cx="8869680" cy="676656"/>
          </a:xfrm>
          <a:prstGeom prst="rect">
            <a:avLst/>
          </a:prstGeom>
          <a:noFill/>
          <a:ln/>
        </p:spPr>
        <p:txBody>
          <a:bodyPr wrap="square" lIns="0" tIns="0" rIns="0" bIns="0" rtlCol="0" anchor="ctr">
            <a:normAutofit/>
          </a:bodyPr>
          <a:lstStyle/>
          <a:p>
            <a:pPr algn="l" indent="0" marL="0">
              <a:buNone/>
            </a:pPr>
            <a:r>
              <a:rPr lang="en-US" sz="2600" b="1" dirty="0">
                <a:solidFill>
                  <a:srgbClr val="151C26"/>
                </a:solidFill>
                <a:latin typeface="Noto Sans CJK KR" pitchFamily="34" charset="0"/>
                <a:ea typeface="Noto Sans CJK KR" pitchFamily="34" charset="-122"/>
                <a:cs typeface="Noto Sans CJK KR" pitchFamily="34" charset="-120"/>
              </a:rPr>
              <a:t>해결책은 “더 참기”가 아니라 “덜 끊기게 만들기”</a:t>
            </a:r>
            <a:endParaRPr lang="en-US" sz="2600" dirty="0"/>
          </a:p>
        </p:txBody>
      </p:sp>
      <p:sp>
        <p:nvSpPr>
          <p:cNvPr id="5" name="Text 3"/>
          <p:cNvSpPr/>
          <p:nvPr/>
        </p:nvSpPr>
        <p:spPr>
          <a:xfrm>
            <a:off x="658368" y="1481328"/>
            <a:ext cx="7315200" cy="329184"/>
          </a:xfrm>
          <a:prstGeom prst="rect">
            <a:avLst/>
          </a:prstGeom>
          <a:noFill/>
          <a:ln/>
        </p:spPr>
        <p:txBody>
          <a:bodyPr wrap="square" lIns="0" tIns="0" rIns="0" bIns="0" rtlCol="0" anchor="ctr">
            <a:normAutofit/>
          </a:bodyPr>
          <a:lstStyle/>
          <a:p>
            <a:pPr algn="l" indent="0" marL="0">
              <a:buNone/>
            </a:pPr>
            <a:r>
              <a:rPr lang="en-US" sz="1250" dirty="0">
                <a:solidFill>
                  <a:srgbClr val="606A7A"/>
                </a:solidFill>
                <a:latin typeface="Noto Sans CJK KR" pitchFamily="34" charset="0"/>
                <a:ea typeface="Noto Sans CJK KR" pitchFamily="34" charset="-122"/>
                <a:cs typeface="Noto Sans CJK KR" pitchFamily="34" charset="-120"/>
              </a:rPr>
              <a:t>집중을 의지의 문제가 아니라 환경 설계의 문제로 바꿔야 한다.</a:t>
            </a:r>
            <a:endParaRPr lang="en-US" sz="1250" dirty="0"/>
          </a:p>
        </p:txBody>
      </p:sp>
      <p:pic>
        <p:nvPicPr>
          <p:cNvPr id="6" name="Image 0" descr="/mnt/data/a_detailed_digital_illustration_concept_art_scen.png">    </p:cNvPr>
          <p:cNvPicPr>
            <a:picLocks noChangeAspect="1"/>
          </p:cNvPicPr>
          <p:nvPr/>
        </p:nvPicPr>
        <p:blipFill>
          <a:blip r:embed="rId1"/>
          <a:srcRect l="18000" r="23003" t="2000" b="3000"/>
          <a:stretch/>
        </p:blipFill>
        <p:spPr>
          <a:xfrm>
            <a:off x="640080" y="1828800"/>
            <a:ext cx="4389120" cy="3977640"/>
          </a:xfrm>
          <a:prstGeom prst="rect">
            <a:avLst/>
          </a:prstGeom>
        </p:spPr>
      </p:pic>
      <p:sp>
        <p:nvSpPr>
          <p:cNvPr id="7" name="Text 4"/>
          <p:cNvSpPr/>
          <p:nvPr/>
        </p:nvSpPr>
        <p:spPr>
          <a:xfrm>
            <a:off x="5577840" y="2048256"/>
            <a:ext cx="274320" cy="219456"/>
          </a:xfrm>
          <a:prstGeom prst="rect">
            <a:avLst/>
          </a:prstGeom>
          <a:noFill/>
          <a:ln/>
        </p:spPr>
        <p:txBody>
          <a:bodyPr wrap="square" lIns="0" tIns="0" rIns="0" bIns="0" rtlCol="0" anchor="ctr">
            <a:normAutofit/>
          </a:bodyPr>
          <a:lstStyle/>
          <a:p>
            <a:pPr algn="l" indent="0" marL="0">
              <a:buNone/>
            </a:pPr>
            <a:r>
              <a:rPr lang="en-US" sz="1500" b="1" dirty="0">
                <a:solidFill>
                  <a:srgbClr val="235CFF"/>
                </a:solidFill>
                <a:latin typeface="Noto Sans CJK KR" pitchFamily="34" charset="0"/>
                <a:ea typeface="Noto Sans CJK KR" pitchFamily="34" charset="-122"/>
                <a:cs typeface="Noto Sans CJK KR" pitchFamily="34" charset="-120"/>
              </a:rPr>
              <a:t>1</a:t>
            </a:r>
            <a:endParaRPr lang="en-US" sz="1500" dirty="0"/>
          </a:p>
        </p:txBody>
      </p:sp>
      <p:sp>
        <p:nvSpPr>
          <p:cNvPr id="8" name="Text 5"/>
          <p:cNvSpPr/>
          <p:nvPr/>
        </p:nvSpPr>
        <p:spPr>
          <a:xfrm>
            <a:off x="6016752" y="1947672"/>
            <a:ext cx="3017520" cy="237744"/>
          </a:xfrm>
          <a:prstGeom prst="rect">
            <a:avLst/>
          </a:prstGeom>
          <a:noFill/>
          <a:ln/>
        </p:spPr>
        <p:txBody>
          <a:bodyPr wrap="square" lIns="0" tIns="0" rIns="0" bIns="0" rtlCol="0" anchor="ctr">
            <a:normAutofit/>
          </a:bodyPr>
          <a:lstStyle/>
          <a:p>
            <a:pPr algn="l" indent="0" marL="0">
              <a:buNone/>
            </a:pPr>
            <a:r>
              <a:rPr lang="en-US" sz="1700" b="1" dirty="0">
                <a:solidFill>
                  <a:srgbClr val="151C26"/>
                </a:solidFill>
                <a:latin typeface="Noto Sans CJK KR" pitchFamily="34" charset="0"/>
                <a:ea typeface="Noto Sans CJK KR" pitchFamily="34" charset="-122"/>
                <a:cs typeface="Noto Sans CJK KR" pitchFamily="34" charset="-120"/>
              </a:rPr>
              <a:t>알림 줄이기</a:t>
            </a:r>
            <a:endParaRPr lang="en-US" sz="1700" dirty="0"/>
          </a:p>
        </p:txBody>
      </p:sp>
      <p:sp>
        <p:nvSpPr>
          <p:cNvPr id="9" name="Text 6"/>
          <p:cNvSpPr/>
          <p:nvPr/>
        </p:nvSpPr>
        <p:spPr>
          <a:xfrm>
            <a:off x="6016752" y="2295144"/>
            <a:ext cx="4297680" cy="201168"/>
          </a:xfrm>
          <a:prstGeom prst="rect">
            <a:avLst/>
          </a:prstGeom>
          <a:noFill/>
          <a:ln/>
        </p:spPr>
        <p:txBody>
          <a:bodyPr wrap="square" lIns="0" tIns="0" rIns="0" bIns="0" rtlCol="0" anchor="ctr">
            <a:normAutofit/>
          </a:bodyPr>
          <a:lstStyle/>
          <a:p>
            <a:pPr algn="l" indent="0" marL="0">
              <a:buNone/>
            </a:pPr>
            <a:r>
              <a:rPr lang="en-US" sz="1200" dirty="0">
                <a:solidFill>
                  <a:srgbClr val="606A7A"/>
                </a:solidFill>
                <a:latin typeface="Noto Sans CJK KR" pitchFamily="34" charset="0"/>
                <a:ea typeface="Noto Sans CJK KR" pitchFamily="34" charset="-122"/>
                <a:cs typeface="Noto Sans CJK KR" pitchFamily="34" charset="-120"/>
              </a:rPr>
              <a:t>꼭 필요한 앱만 즉시 알림을 켠다.</a:t>
            </a:r>
            <a:endParaRPr lang="en-US" sz="1200" dirty="0"/>
          </a:p>
        </p:txBody>
      </p:sp>
      <p:sp>
        <p:nvSpPr>
          <p:cNvPr id="10" name="Shape 7"/>
          <p:cNvSpPr/>
          <p:nvPr/>
        </p:nvSpPr>
        <p:spPr>
          <a:xfrm>
            <a:off x="5486400" y="2715768"/>
            <a:ext cx="5029200" cy="0"/>
          </a:xfrm>
          <a:prstGeom prst="line">
            <a:avLst/>
          </a:prstGeom>
          <a:noFill/>
          <a:ln w="8890">
            <a:solidFill>
              <a:srgbClr val="D9D2C8"/>
            </a:solidFill>
            <a:prstDash val="solid"/>
          </a:ln>
        </p:spPr>
      </p:sp>
      <p:sp>
        <p:nvSpPr>
          <p:cNvPr id="11" name="Text 8"/>
          <p:cNvSpPr/>
          <p:nvPr/>
        </p:nvSpPr>
        <p:spPr>
          <a:xfrm>
            <a:off x="5577840" y="3182112"/>
            <a:ext cx="274320" cy="219456"/>
          </a:xfrm>
          <a:prstGeom prst="rect">
            <a:avLst/>
          </a:prstGeom>
          <a:noFill/>
          <a:ln/>
        </p:spPr>
        <p:txBody>
          <a:bodyPr wrap="square" lIns="0" tIns="0" rIns="0" bIns="0" rtlCol="0" anchor="ctr">
            <a:normAutofit/>
          </a:bodyPr>
          <a:lstStyle/>
          <a:p>
            <a:pPr algn="l" indent="0" marL="0">
              <a:buNone/>
            </a:pPr>
            <a:r>
              <a:rPr lang="en-US" sz="1500" b="1" dirty="0">
                <a:solidFill>
                  <a:srgbClr val="235CFF"/>
                </a:solidFill>
                <a:latin typeface="Noto Sans CJK KR" pitchFamily="34" charset="0"/>
                <a:ea typeface="Noto Sans CJK KR" pitchFamily="34" charset="-122"/>
                <a:cs typeface="Noto Sans CJK KR" pitchFamily="34" charset="-120"/>
              </a:rPr>
              <a:t>2</a:t>
            </a:r>
            <a:endParaRPr lang="en-US" sz="1500" dirty="0"/>
          </a:p>
        </p:txBody>
      </p:sp>
      <p:sp>
        <p:nvSpPr>
          <p:cNvPr id="12" name="Text 9"/>
          <p:cNvSpPr/>
          <p:nvPr/>
        </p:nvSpPr>
        <p:spPr>
          <a:xfrm>
            <a:off x="6016752" y="3081528"/>
            <a:ext cx="3017520" cy="237744"/>
          </a:xfrm>
          <a:prstGeom prst="rect">
            <a:avLst/>
          </a:prstGeom>
          <a:noFill/>
          <a:ln/>
        </p:spPr>
        <p:txBody>
          <a:bodyPr wrap="square" lIns="0" tIns="0" rIns="0" bIns="0" rtlCol="0" anchor="ctr">
            <a:normAutofit/>
          </a:bodyPr>
          <a:lstStyle/>
          <a:p>
            <a:pPr algn="l" indent="0" marL="0">
              <a:buNone/>
            </a:pPr>
            <a:r>
              <a:rPr lang="en-US" sz="1700" b="1" dirty="0">
                <a:solidFill>
                  <a:srgbClr val="151C26"/>
                </a:solidFill>
                <a:latin typeface="Noto Sans CJK KR" pitchFamily="34" charset="0"/>
                <a:ea typeface="Noto Sans CJK KR" pitchFamily="34" charset="-122"/>
                <a:cs typeface="Noto Sans CJK KR" pitchFamily="34" charset="-120"/>
              </a:rPr>
              <a:t>묶어서 확인하기</a:t>
            </a:r>
            <a:endParaRPr lang="en-US" sz="1700" dirty="0"/>
          </a:p>
        </p:txBody>
      </p:sp>
      <p:sp>
        <p:nvSpPr>
          <p:cNvPr id="13" name="Text 10"/>
          <p:cNvSpPr/>
          <p:nvPr/>
        </p:nvSpPr>
        <p:spPr>
          <a:xfrm>
            <a:off x="6016752" y="3429000"/>
            <a:ext cx="4297680" cy="201168"/>
          </a:xfrm>
          <a:prstGeom prst="rect">
            <a:avLst/>
          </a:prstGeom>
          <a:noFill/>
          <a:ln/>
        </p:spPr>
        <p:txBody>
          <a:bodyPr wrap="square" lIns="0" tIns="0" rIns="0" bIns="0" rtlCol="0" anchor="ctr">
            <a:normAutofit/>
          </a:bodyPr>
          <a:lstStyle/>
          <a:p>
            <a:pPr algn="l" indent="0" marL="0">
              <a:buNone/>
            </a:pPr>
            <a:r>
              <a:rPr lang="en-US" sz="1200" dirty="0">
                <a:solidFill>
                  <a:srgbClr val="606A7A"/>
                </a:solidFill>
                <a:latin typeface="Noto Sans CJK KR" pitchFamily="34" charset="0"/>
                <a:ea typeface="Noto Sans CJK KR" pitchFamily="34" charset="-122"/>
                <a:cs typeface="Noto Sans CJK KR" pitchFamily="34" charset="-120"/>
              </a:rPr>
              <a:t>메시지 확인 시간을 따로 정한다.</a:t>
            </a:r>
            <a:endParaRPr lang="en-US" sz="1200" dirty="0"/>
          </a:p>
        </p:txBody>
      </p:sp>
      <p:sp>
        <p:nvSpPr>
          <p:cNvPr id="14" name="Shape 11"/>
          <p:cNvSpPr/>
          <p:nvPr/>
        </p:nvSpPr>
        <p:spPr>
          <a:xfrm>
            <a:off x="5486400" y="3849624"/>
            <a:ext cx="5029200" cy="0"/>
          </a:xfrm>
          <a:prstGeom prst="line">
            <a:avLst/>
          </a:prstGeom>
          <a:noFill/>
          <a:ln w="8890">
            <a:solidFill>
              <a:srgbClr val="D9D2C8"/>
            </a:solidFill>
            <a:prstDash val="solid"/>
          </a:ln>
        </p:spPr>
      </p:sp>
      <p:sp>
        <p:nvSpPr>
          <p:cNvPr id="15" name="Text 12"/>
          <p:cNvSpPr/>
          <p:nvPr/>
        </p:nvSpPr>
        <p:spPr>
          <a:xfrm>
            <a:off x="5577840" y="4315968"/>
            <a:ext cx="274320" cy="219456"/>
          </a:xfrm>
          <a:prstGeom prst="rect">
            <a:avLst/>
          </a:prstGeom>
          <a:noFill/>
          <a:ln/>
        </p:spPr>
        <p:txBody>
          <a:bodyPr wrap="square" lIns="0" tIns="0" rIns="0" bIns="0" rtlCol="0" anchor="ctr">
            <a:normAutofit/>
          </a:bodyPr>
          <a:lstStyle/>
          <a:p>
            <a:pPr algn="l" indent="0" marL="0">
              <a:buNone/>
            </a:pPr>
            <a:r>
              <a:rPr lang="en-US" sz="1500" b="1" dirty="0">
                <a:solidFill>
                  <a:srgbClr val="235CFF"/>
                </a:solidFill>
                <a:latin typeface="Noto Sans CJK KR" pitchFamily="34" charset="0"/>
                <a:ea typeface="Noto Sans CJK KR" pitchFamily="34" charset="-122"/>
                <a:cs typeface="Noto Sans CJK KR" pitchFamily="34" charset="-120"/>
              </a:rPr>
              <a:t>3</a:t>
            </a:r>
            <a:endParaRPr lang="en-US" sz="1500" dirty="0"/>
          </a:p>
        </p:txBody>
      </p:sp>
      <p:sp>
        <p:nvSpPr>
          <p:cNvPr id="16" name="Text 13"/>
          <p:cNvSpPr/>
          <p:nvPr/>
        </p:nvSpPr>
        <p:spPr>
          <a:xfrm>
            <a:off x="6016752" y="4215384"/>
            <a:ext cx="3017520" cy="237744"/>
          </a:xfrm>
          <a:prstGeom prst="rect">
            <a:avLst/>
          </a:prstGeom>
          <a:noFill/>
          <a:ln/>
        </p:spPr>
        <p:txBody>
          <a:bodyPr wrap="square" lIns="0" tIns="0" rIns="0" bIns="0" rtlCol="0" anchor="ctr">
            <a:normAutofit/>
          </a:bodyPr>
          <a:lstStyle/>
          <a:p>
            <a:pPr algn="l" indent="0" marL="0">
              <a:buNone/>
            </a:pPr>
            <a:r>
              <a:rPr lang="en-US" sz="1700" b="1" dirty="0">
                <a:solidFill>
                  <a:srgbClr val="151C26"/>
                </a:solidFill>
                <a:latin typeface="Noto Sans CJK KR" pitchFamily="34" charset="0"/>
                <a:ea typeface="Noto Sans CJK KR" pitchFamily="34" charset="-122"/>
                <a:cs typeface="Noto Sans CJK KR" pitchFamily="34" charset="-120"/>
              </a:rPr>
              <a:t>폰을 멀리 두기</a:t>
            </a:r>
            <a:endParaRPr lang="en-US" sz="1700" dirty="0"/>
          </a:p>
        </p:txBody>
      </p:sp>
      <p:sp>
        <p:nvSpPr>
          <p:cNvPr id="17" name="Text 14"/>
          <p:cNvSpPr/>
          <p:nvPr/>
        </p:nvSpPr>
        <p:spPr>
          <a:xfrm>
            <a:off x="6016752" y="4562856"/>
            <a:ext cx="4297680" cy="201168"/>
          </a:xfrm>
          <a:prstGeom prst="rect">
            <a:avLst/>
          </a:prstGeom>
          <a:noFill/>
          <a:ln/>
        </p:spPr>
        <p:txBody>
          <a:bodyPr wrap="square" lIns="0" tIns="0" rIns="0" bIns="0" rtlCol="0" anchor="ctr">
            <a:normAutofit/>
          </a:bodyPr>
          <a:lstStyle/>
          <a:p>
            <a:pPr algn="l" indent="0" marL="0">
              <a:buNone/>
            </a:pPr>
            <a:r>
              <a:rPr lang="en-US" sz="1200" dirty="0">
                <a:solidFill>
                  <a:srgbClr val="606A7A"/>
                </a:solidFill>
                <a:latin typeface="Noto Sans CJK KR" pitchFamily="34" charset="0"/>
                <a:ea typeface="Noto Sans CJK KR" pitchFamily="34" charset="-122"/>
                <a:cs typeface="Noto Sans CJK KR" pitchFamily="34" charset="-120"/>
              </a:rPr>
              <a:t>시야 밖, 가방 안, 다른 방을 활용한다.</a:t>
            </a:r>
            <a:endParaRPr lang="en-US" sz="1200" dirty="0"/>
          </a:p>
        </p:txBody>
      </p:sp>
      <p:sp>
        <p:nvSpPr>
          <p:cNvPr id="18" name="Shape 15"/>
          <p:cNvSpPr/>
          <p:nvPr/>
        </p:nvSpPr>
        <p:spPr>
          <a:xfrm>
            <a:off x="5486400" y="4983480"/>
            <a:ext cx="5029200" cy="0"/>
          </a:xfrm>
          <a:prstGeom prst="line">
            <a:avLst/>
          </a:prstGeom>
          <a:noFill/>
          <a:ln w="8890">
            <a:solidFill>
              <a:srgbClr val="D9D2C8"/>
            </a:solidFill>
            <a:prstDash val="solid"/>
          </a:ln>
        </p:spPr>
      </p:sp>
      <p:sp>
        <p:nvSpPr>
          <p:cNvPr id="19" name="Text 16"/>
          <p:cNvSpPr/>
          <p:nvPr/>
        </p:nvSpPr>
        <p:spPr>
          <a:xfrm>
            <a:off x="5559552" y="5513832"/>
            <a:ext cx="5394960" cy="438912"/>
          </a:xfrm>
          <a:prstGeom prst="rect">
            <a:avLst/>
          </a:prstGeom>
          <a:noFill/>
          <a:ln/>
        </p:spPr>
        <p:txBody>
          <a:bodyPr wrap="square" lIns="0" tIns="0" rIns="0" bIns="0" rtlCol="0" anchor="ctr">
            <a:normAutofit/>
          </a:bodyPr>
          <a:lstStyle/>
          <a:p>
            <a:pPr algn="l" indent="0" marL="0">
              <a:buNone/>
            </a:pPr>
            <a:r>
              <a:rPr lang="en-US" sz="1800" b="1" dirty="0">
                <a:solidFill>
                  <a:srgbClr val="235CFF"/>
                </a:solidFill>
                <a:latin typeface="Noto Sans CJK KR" pitchFamily="34" charset="0"/>
                <a:ea typeface="Noto Sans CJK KR" pitchFamily="34" charset="-122"/>
                <a:cs typeface="Noto Sans CJK KR" pitchFamily="34" charset="-120"/>
              </a:rPr>
              <a:t>핵심은 알림을 참는 능력이 아니라,</a:t>
            </a:r>
            <a:endParaRPr lang="en-US" sz="1800" dirty="0"/>
          </a:p>
          <a:p>
            <a:pPr algn="l" indent="0" marL="0">
              <a:buNone/>
            </a:pPr>
            <a:r>
              <a:rPr lang="en-US" sz="1800" b="1" dirty="0">
                <a:solidFill>
                  <a:srgbClr val="235CFF"/>
                </a:solidFill>
                <a:latin typeface="Noto Sans CJK KR" pitchFamily="34" charset="0"/>
                <a:ea typeface="Noto Sans CJK KR" pitchFamily="34" charset="-122"/>
                <a:cs typeface="Noto Sans CJK KR" pitchFamily="34" charset="-120"/>
              </a:rPr>
              <a:t>알림이 끼어들 기회를 줄이는 것이다.</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CF7"/>
        </a:solidFill>
      </p:bgPr>
    </p:bg>
    <p:spTree>
      <p:nvGrpSpPr>
        <p:cNvPr id="1" name=""/>
        <p:cNvGrpSpPr/>
        <p:nvPr/>
      </p:nvGrpSpPr>
      <p:grpSpPr>
        <a:xfrm>
          <a:off x="0" y="0"/>
          <a:ext cx="0" cy="0"/>
          <a:chOff x="0" y="0"/>
          <a:chExt cx="0" cy="0"/>
        </a:xfrm>
      </p:grpSpPr>
      <p:sp>
        <p:nvSpPr>
          <p:cNvPr id="2" name="Text 0"/>
          <p:cNvSpPr/>
          <p:nvPr/>
        </p:nvSpPr>
        <p:spPr>
          <a:xfrm>
            <a:off x="640080" y="347472"/>
            <a:ext cx="3840480" cy="219456"/>
          </a:xfrm>
          <a:prstGeom prst="rect">
            <a:avLst/>
          </a:prstGeom>
          <a:noFill/>
          <a:ln/>
        </p:spPr>
        <p:txBody>
          <a:bodyPr wrap="square" lIns="0" tIns="0" rIns="0" bIns="0" rtlCol="0" anchor="ctr">
            <a:normAutofit/>
          </a:bodyPr>
          <a:lstStyle/>
          <a:p>
            <a:pPr algn="l" indent="0" marL="0">
              <a:buNone/>
            </a:pPr>
            <a:r>
              <a:rPr lang="en-US" sz="800" b="1" dirty="0">
                <a:solidFill>
                  <a:srgbClr val="235CFF"/>
                </a:solidFill>
                <a:latin typeface="Noto Sans CJK KR" pitchFamily="34" charset="0"/>
                <a:ea typeface="Noto Sans CJK KR" pitchFamily="34" charset="-122"/>
                <a:cs typeface="Noto Sans CJK KR" pitchFamily="34" charset="-120"/>
              </a:rPr>
              <a:t>APPLICATION</a:t>
            </a:r>
            <a:endParaRPr lang="en-US" sz="800" dirty="0"/>
          </a:p>
        </p:txBody>
      </p:sp>
      <p:sp>
        <p:nvSpPr>
          <p:cNvPr id="3" name="Text 1"/>
          <p:cNvSpPr/>
          <p:nvPr/>
        </p:nvSpPr>
        <p:spPr>
          <a:xfrm>
            <a:off x="11109960" y="320040"/>
            <a:ext cx="548640" cy="201168"/>
          </a:xfrm>
          <a:prstGeom prst="rect">
            <a:avLst/>
          </a:prstGeom>
          <a:noFill/>
          <a:ln/>
        </p:spPr>
        <p:txBody>
          <a:bodyPr wrap="square" lIns="0" tIns="0" rIns="0" bIns="0" rtlCol="0" anchor="ctr">
            <a:normAutofit/>
          </a:bodyPr>
          <a:lstStyle/>
          <a:p>
            <a:pPr algn="r" indent="0" marL="0">
              <a:buNone/>
            </a:pPr>
            <a:r>
              <a:rPr lang="en-US" sz="800" b="1" dirty="0">
                <a:solidFill>
                  <a:srgbClr val="606A7A"/>
                </a:solidFill>
                <a:latin typeface="Noto Sans CJK KR" pitchFamily="34" charset="0"/>
                <a:ea typeface="Noto Sans CJK KR" pitchFamily="34" charset="-122"/>
                <a:cs typeface="Noto Sans CJK KR" pitchFamily="34" charset="-120"/>
              </a:rPr>
              <a:t>10</a:t>
            </a:r>
            <a:endParaRPr lang="en-US" sz="800" dirty="0"/>
          </a:p>
        </p:txBody>
      </p:sp>
      <p:sp>
        <p:nvSpPr>
          <p:cNvPr id="4" name="Text 2"/>
          <p:cNvSpPr/>
          <p:nvPr/>
        </p:nvSpPr>
        <p:spPr>
          <a:xfrm>
            <a:off x="640080" y="713232"/>
            <a:ext cx="8869680" cy="676656"/>
          </a:xfrm>
          <a:prstGeom prst="rect">
            <a:avLst/>
          </a:prstGeom>
          <a:noFill/>
          <a:ln/>
        </p:spPr>
        <p:txBody>
          <a:bodyPr wrap="square" lIns="0" tIns="0" rIns="0" bIns="0" rtlCol="0" anchor="ctr">
            <a:normAutofit/>
          </a:bodyPr>
          <a:lstStyle/>
          <a:p>
            <a:pPr algn="l" indent="0" marL="0">
              <a:buNone/>
            </a:pPr>
            <a:r>
              <a:rPr lang="en-US" sz="3000" b="1" dirty="0">
                <a:solidFill>
                  <a:srgbClr val="151C26"/>
                </a:solidFill>
                <a:latin typeface="Noto Sans CJK KR" pitchFamily="34" charset="0"/>
                <a:ea typeface="Noto Sans CJK KR" pitchFamily="34" charset="-122"/>
                <a:cs typeface="Noto Sans CJK KR" pitchFamily="34" charset="-120"/>
              </a:rPr>
              <a:t>오늘 바로 바꿀 수 있는 집중 루틴</a:t>
            </a:r>
            <a:endParaRPr lang="en-US" sz="3000" dirty="0"/>
          </a:p>
        </p:txBody>
      </p:sp>
      <p:sp>
        <p:nvSpPr>
          <p:cNvPr id="5" name="Text 3"/>
          <p:cNvSpPr/>
          <p:nvPr/>
        </p:nvSpPr>
        <p:spPr>
          <a:xfrm>
            <a:off x="658368" y="1481328"/>
            <a:ext cx="7315200" cy="329184"/>
          </a:xfrm>
          <a:prstGeom prst="rect">
            <a:avLst/>
          </a:prstGeom>
          <a:noFill/>
          <a:ln/>
        </p:spPr>
        <p:txBody>
          <a:bodyPr wrap="square" lIns="0" tIns="0" rIns="0" bIns="0" rtlCol="0" anchor="ctr">
            <a:normAutofit/>
          </a:bodyPr>
          <a:lstStyle/>
          <a:p>
            <a:pPr algn="l" indent="0" marL="0">
              <a:buNone/>
            </a:pPr>
            <a:r>
              <a:rPr lang="en-US" sz="1250" dirty="0">
                <a:solidFill>
                  <a:srgbClr val="606A7A"/>
                </a:solidFill>
                <a:latin typeface="Noto Sans CJK KR" pitchFamily="34" charset="0"/>
                <a:ea typeface="Noto Sans CJK KR" pitchFamily="34" charset="-122"/>
                <a:cs typeface="Noto Sans CJK KR" pitchFamily="34" charset="-120"/>
              </a:rPr>
              <a:t>큰 결심보다, 방해가 들어오는 경로를 하나씩 줄이는 게 낫다.</a:t>
            </a:r>
            <a:endParaRPr lang="en-US" sz="1250" dirty="0"/>
          </a:p>
        </p:txBody>
      </p:sp>
      <p:sp>
        <p:nvSpPr>
          <p:cNvPr id="6" name="Text 4"/>
          <p:cNvSpPr/>
          <p:nvPr/>
        </p:nvSpPr>
        <p:spPr>
          <a:xfrm>
            <a:off x="822960" y="2084832"/>
            <a:ext cx="2103120" cy="228600"/>
          </a:xfrm>
          <a:prstGeom prst="rect">
            <a:avLst/>
          </a:prstGeom>
          <a:noFill/>
          <a:ln/>
        </p:spPr>
        <p:txBody>
          <a:bodyPr wrap="square" lIns="0" tIns="0" rIns="0" bIns="0" rtlCol="0" anchor="ctr">
            <a:normAutofit/>
          </a:bodyPr>
          <a:lstStyle/>
          <a:p>
            <a:pPr algn="l" indent="0" marL="0">
              <a:buNone/>
            </a:pPr>
            <a:r>
              <a:rPr lang="en-US" sz="1000" b="1" dirty="0">
                <a:solidFill>
                  <a:srgbClr val="235CFF"/>
                </a:solidFill>
                <a:latin typeface="Noto Sans CJK KR" pitchFamily="34" charset="0"/>
                <a:ea typeface="Noto Sans CJK KR" pitchFamily="34" charset="-122"/>
                <a:cs typeface="Noto Sans CJK KR" pitchFamily="34" charset="-120"/>
              </a:rPr>
              <a:t>Before</a:t>
            </a:r>
            <a:endParaRPr lang="en-US" sz="1000" dirty="0"/>
          </a:p>
        </p:txBody>
      </p:sp>
      <p:sp>
        <p:nvSpPr>
          <p:cNvPr id="7" name="Text 5"/>
          <p:cNvSpPr/>
          <p:nvPr/>
        </p:nvSpPr>
        <p:spPr>
          <a:xfrm>
            <a:off x="822960" y="2514600"/>
            <a:ext cx="2286000" cy="438912"/>
          </a:xfrm>
          <a:prstGeom prst="rect">
            <a:avLst/>
          </a:prstGeom>
          <a:noFill/>
          <a:ln/>
        </p:spPr>
        <p:txBody>
          <a:bodyPr wrap="square" lIns="0" tIns="0" rIns="0" bIns="0" rtlCol="0" anchor="ctr">
            <a:normAutofit/>
          </a:bodyPr>
          <a:lstStyle/>
          <a:p>
            <a:pPr algn="l" indent="0" marL="0">
              <a:buNone/>
            </a:pPr>
            <a:r>
              <a:rPr lang="en-US" sz="2900" b="1" dirty="0">
                <a:solidFill>
                  <a:srgbClr val="151C26"/>
                </a:solidFill>
                <a:latin typeface="Noto Sans CJK KR" pitchFamily="34" charset="0"/>
                <a:ea typeface="Noto Sans CJK KR" pitchFamily="34" charset="-122"/>
                <a:cs typeface="Noto Sans CJK KR" pitchFamily="34" charset="-120"/>
              </a:rPr>
              <a:t>시작 전</a:t>
            </a:r>
            <a:endParaRPr lang="en-US" sz="2900" dirty="0"/>
          </a:p>
        </p:txBody>
      </p:sp>
      <p:sp>
        <p:nvSpPr>
          <p:cNvPr id="8" name="Shape 6"/>
          <p:cNvSpPr/>
          <p:nvPr/>
        </p:nvSpPr>
        <p:spPr>
          <a:xfrm>
            <a:off x="822960" y="3246120"/>
            <a:ext cx="2468880" cy="0"/>
          </a:xfrm>
          <a:prstGeom prst="line">
            <a:avLst/>
          </a:prstGeom>
          <a:noFill/>
          <a:ln w="38100">
            <a:solidFill>
              <a:srgbClr val="235CFF"/>
            </a:solidFill>
            <a:prstDash val="solid"/>
          </a:ln>
        </p:spPr>
      </p:sp>
      <p:sp>
        <p:nvSpPr>
          <p:cNvPr id="9" name="Text 7"/>
          <p:cNvSpPr/>
          <p:nvPr/>
        </p:nvSpPr>
        <p:spPr>
          <a:xfrm>
            <a:off x="822960" y="3611880"/>
            <a:ext cx="2743200" cy="566928"/>
          </a:xfrm>
          <a:prstGeom prst="rect">
            <a:avLst/>
          </a:prstGeom>
          <a:noFill/>
          <a:ln/>
        </p:spPr>
        <p:txBody>
          <a:bodyPr wrap="square" lIns="0" tIns="0" rIns="0" bIns="0" rtlCol="0" anchor="ctr">
            <a:normAutofit/>
          </a:bodyPr>
          <a:lstStyle/>
          <a:p>
            <a:pPr algn="l" indent="0" marL="0">
              <a:buNone/>
            </a:pPr>
            <a:r>
              <a:rPr lang="en-US" sz="1800" dirty="0">
                <a:solidFill>
                  <a:srgbClr val="151C26"/>
                </a:solidFill>
                <a:latin typeface="Noto Sans CJK KR" pitchFamily="34" charset="0"/>
                <a:ea typeface="Noto Sans CJK KR" pitchFamily="34" charset="-122"/>
                <a:cs typeface="Noto Sans CJK KR" pitchFamily="34" charset="-120"/>
              </a:rPr>
              <a:t>폰은 시야 밖으로</a:t>
            </a:r>
            <a:endParaRPr lang="en-US" sz="1800" dirty="0"/>
          </a:p>
          <a:p>
            <a:pPr algn="l" indent="0" marL="0">
              <a:buNone/>
            </a:pPr>
            <a:r>
              <a:rPr lang="en-US" sz="1800" dirty="0">
                <a:solidFill>
                  <a:srgbClr val="151C26"/>
                </a:solidFill>
                <a:latin typeface="Noto Sans CJK KR" pitchFamily="34" charset="0"/>
                <a:ea typeface="Noto Sans CJK KR" pitchFamily="34" charset="-122"/>
                <a:cs typeface="Noto Sans CJK KR" pitchFamily="34" charset="-120"/>
              </a:rPr>
              <a:t>알림은 집중모드로</a:t>
            </a:r>
            <a:endParaRPr lang="en-US" sz="1800" dirty="0"/>
          </a:p>
        </p:txBody>
      </p:sp>
      <p:sp>
        <p:nvSpPr>
          <p:cNvPr id="10" name="Text 8"/>
          <p:cNvSpPr/>
          <p:nvPr/>
        </p:nvSpPr>
        <p:spPr>
          <a:xfrm>
            <a:off x="4480560" y="2084832"/>
            <a:ext cx="2103120" cy="228600"/>
          </a:xfrm>
          <a:prstGeom prst="rect">
            <a:avLst/>
          </a:prstGeom>
          <a:noFill/>
          <a:ln/>
        </p:spPr>
        <p:txBody>
          <a:bodyPr wrap="square" lIns="0" tIns="0" rIns="0" bIns="0" rtlCol="0" anchor="ctr">
            <a:normAutofit/>
          </a:bodyPr>
          <a:lstStyle/>
          <a:p>
            <a:pPr algn="l" indent="0" marL="0">
              <a:buNone/>
            </a:pPr>
            <a:r>
              <a:rPr lang="en-US" sz="1000" b="1" dirty="0">
                <a:solidFill>
                  <a:srgbClr val="235CFF"/>
                </a:solidFill>
                <a:latin typeface="Noto Sans CJK KR" pitchFamily="34" charset="0"/>
                <a:ea typeface="Noto Sans CJK KR" pitchFamily="34" charset="-122"/>
                <a:cs typeface="Noto Sans CJK KR" pitchFamily="34" charset="-120"/>
              </a:rPr>
              <a:t>During</a:t>
            </a:r>
            <a:endParaRPr lang="en-US" sz="1000" dirty="0"/>
          </a:p>
        </p:txBody>
      </p:sp>
      <p:sp>
        <p:nvSpPr>
          <p:cNvPr id="11" name="Text 9"/>
          <p:cNvSpPr/>
          <p:nvPr/>
        </p:nvSpPr>
        <p:spPr>
          <a:xfrm>
            <a:off x="4480560" y="2514600"/>
            <a:ext cx="2286000" cy="438912"/>
          </a:xfrm>
          <a:prstGeom prst="rect">
            <a:avLst/>
          </a:prstGeom>
          <a:noFill/>
          <a:ln/>
        </p:spPr>
        <p:txBody>
          <a:bodyPr wrap="square" lIns="0" tIns="0" rIns="0" bIns="0" rtlCol="0" anchor="ctr">
            <a:normAutofit/>
          </a:bodyPr>
          <a:lstStyle/>
          <a:p>
            <a:pPr algn="l" indent="0" marL="0">
              <a:buNone/>
            </a:pPr>
            <a:r>
              <a:rPr lang="en-US" sz="2900" b="1" dirty="0">
                <a:solidFill>
                  <a:srgbClr val="151C26"/>
                </a:solidFill>
                <a:latin typeface="Noto Sans CJK KR" pitchFamily="34" charset="0"/>
                <a:ea typeface="Noto Sans CJK KR" pitchFamily="34" charset="-122"/>
                <a:cs typeface="Noto Sans CJK KR" pitchFamily="34" charset="-120"/>
              </a:rPr>
              <a:t>집중 중</a:t>
            </a:r>
            <a:endParaRPr lang="en-US" sz="2900" dirty="0"/>
          </a:p>
        </p:txBody>
      </p:sp>
      <p:sp>
        <p:nvSpPr>
          <p:cNvPr id="12" name="Shape 10"/>
          <p:cNvSpPr/>
          <p:nvPr/>
        </p:nvSpPr>
        <p:spPr>
          <a:xfrm>
            <a:off x="4480560" y="3246120"/>
            <a:ext cx="2468880" cy="0"/>
          </a:xfrm>
          <a:prstGeom prst="line">
            <a:avLst/>
          </a:prstGeom>
          <a:noFill/>
          <a:ln w="38100">
            <a:solidFill>
              <a:srgbClr val="F7B955"/>
            </a:solidFill>
            <a:prstDash val="solid"/>
          </a:ln>
        </p:spPr>
      </p:sp>
      <p:sp>
        <p:nvSpPr>
          <p:cNvPr id="13" name="Text 11"/>
          <p:cNvSpPr/>
          <p:nvPr/>
        </p:nvSpPr>
        <p:spPr>
          <a:xfrm>
            <a:off x="4480560" y="3611880"/>
            <a:ext cx="2743200" cy="566928"/>
          </a:xfrm>
          <a:prstGeom prst="rect">
            <a:avLst/>
          </a:prstGeom>
          <a:noFill/>
          <a:ln/>
        </p:spPr>
        <p:txBody>
          <a:bodyPr wrap="square" lIns="0" tIns="0" rIns="0" bIns="0" rtlCol="0" anchor="ctr">
            <a:normAutofit/>
          </a:bodyPr>
          <a:lstStyle/>
          <a:p>
            <a:pPr algn="l" indent="0" marL="0">
              <a:buNone/>
            </a:pPr>
            <a:r>
              <a:rPr lang="en-US" sz="1800" dirty="0">
                <a:solidFill>
                  <a:srgbClr val="151C26"/>
                </a:solidFill>
                <a:latin typeface="Noto Sans CJK KR" pitchFamily="34" charset="0"/>
                <a:ea typeface="Noto Sans CJK KR" pitchFamily="34" charset="-122"/>
                <a:cs typeface="Noto Sans CJK KR" pitchFamily="34" charset="-120"/>
              </a:rPr>
              <a:t>메신저·메일은 닫기</a:t>
            </a:r>
            <a:endParaRPr lang="en-US" sz="1800" dirty="0"/>
          </a:p>
          <a:p>
            <a:pPr algn="l" indent="0" marL="0">
              <a:buNone/>
            </a:pPr>
            <a:r>
              <a:rPr lang="en-US" sz="1800" dirty="0">
                <a:solidFill>
                  <a:srgbClr val="151C26"/>
                </a:solidFill>
                <a:latin typeface="Noto Sans CJK KR" pitchFamily="34" charset="0"/>
                <a:ea typeface="Noto Sans CJK KR" pitchFamily="34" charset="-122"/>
                <a:cs typeface="Noto Sans CJK KR" pitchFamily="34" charset="-120"/>
              </a:rPr>
              <a:t>한 화면만 남기기</a:t>
            </a:r>
            <a:endParaRPr lang="en-US" sz="1800" dirty="0"/>
          </a:p>
        </p:txBody>
      </p:sp>
      <p:sp>
        <p:nvSpPr>
          <p:cNvPr id="14" name="Text 12"/>
          <p:cNvSpPr/>
          <p:nvPr/>
        </p:nvSpPr>
        <p:spPr>
          <a:xfrm>
            <a:off x="8138160" y="2084832"/>
            <a:ext cx="2103120" cy="228600"/>
          </a:xfrm>
          <a:prstGeom prst="rect">
            <a:avLst/>
          </a:prstGeom>
          <a:noFill/>
          <a:ln/>
        </p:spPr>
        <p:txBody>
          <a:bodyPr wrap="square" lIns="0" tIns="0" rIns="0" bIns="0" rtlCol="0" anchor="ctr">
            <a:normAutofit/>
          </a:bodyPr>
          <a:lstStyle/>
          <a:p>
            <a:pPr algn="l" indent="0" marL="0">
              <a:buNone/>
            </a:pPr>
            <a:r>
              <a:rPr lang="en-US" sz="1000" b="1" dirty="0">
                <a:solidFill>
                  <a:srgbClr val="235CFF"/>
                </a:solidFill>
                <a:latin typeface="Noto Sans CJK KR" pitchFamily="34" charset="0"/>
                <a:ea typeface="Noto Sans CJK KR" pitchFamily="34" charset="-122"/>
                <a:cs typeface="Noto Sans CJK KR" pitchFamily="34" charset="-120"/>
              </a:rPr>
              <a:t>After</a:t>
            </a:r>
            <a:endParaRPr lang="en-US" sz="1000" dirty="0"/>
          </a:p>
        </p:txBody>
      </p:sp>
      <p:sp>
        <p:nvSpPr>
          <p:cNvPr id="15" name="Text 13"/>
          <p:cNvSpPr/>
          <p:nvPr/>
        </p:nvSpPr>
        <p:spPr>
          <a:xfrm>
            <a:off x="8138160" y="2514600"/>
            <a:ext cx="2286000" cy="438912"/>
          </a:xfrm>
          <a:prstGeom prst="rect">
            <a:avLst/>
          </a:prstGeom>
          <a:noFill/>
          <a:ln/>
        </p:spPr>
        <p:txBody>
          <a:bodyPr wrap="square" lIns="0" tIns="0" rIns="0" bIns="0" rtlCol="0" anchor="ctr">
            <a:normAutofit/>
          </a:bodyPr>
          <a:lstStyle/>
          <a:p>
            <a:pPr algn="l" indent="0" marL="0">
              <a:buNone/>
            </a:pPr>
            <a:r>
              <a:rPr lang="en-US" sz="2900" b="1" dirty="0">
                <a:solidFill>
                  <a:srgbClr val="151C26"/>
                </a:solidFill>
                <a:latin typeface="Noto Sans CJK KR" pitchFamily="34" charset="0"/>
                <a:ea typeface="Noto Sans CJK KR" pitchFamily="34" charset="-122"/>
                <a:cs typeface="Noto Sans CJK KR" pitchFamily="34" charset="-120"/>
              </a:rPr>
              <a:t>전환 전</a:t>
            </a:r>
            <a:endParaRPr lang="en-US" sz="2900" dirty="0"/>
          </a:p>
        </p:txBody>
      </p:sp>
      <p:sp>
        <p:nvSpPr>
          <p:cNvPr id="16" name="Shape 14"/>
          <p:cNvSpPr/>
          <p:nvPr/>
        </p:nvSpPr>
        <p:spPr>
          <a:xfrm>
            <a:off x="8138160" y="3246120"/>
            <a:ext cx="2468880" cy="0"/>
          </a:xfrm>
          <a:prstGeom prst="line">
            <a:avLst/>
          </a:prstGeom>
          <a:noFill/>
          <a:ln w="38100">
            <a:solidFill>
              <a:srgbClr val="3FB889"/>
            </a:solidFill>
            <a:prstDash val="solid"/>
          </a:ln>
        </p:spPr>
      </p:sp>
      <p:sp>
        <p:nvSpPr>
          <p:cNvPr id="17" name="Text 15"/>
          <p:cNvSpPr/>
          <p:nvPr/>
        </p:nvSpPr>
        <p:spPr>
          <a:xfrm>
            <a:off x="8138160" y="3611880"/>
            <a:ext cx="2743200" cy="566928"/>
          </a:xfrm>
          <a:prstGeom prst="rect">
            <a:avLst/>
          </a:prstGeom>
          <a:noFill/>
          <a:ln/>
        </p:spPr>
        <p:txBody>
          <a:bodyPr wrap="square" lIns="0" tIns="0" rIns="0" bIns="0" rtlCol="0" anchor="ctr">
            <a:normAutofit/>
          </a:bodyPr>
          <a:lstStyle/>
          <a:p>
            <a:pPr algn="l" indent="0" marL="0">
              <a:buNone/>
            </a:pPr>
            <a:r>
              <a:rPr lang="en-US" sz="1800" dirty="0">
                <a:solidFill>
                  <a:srgbClr val="151C26"/>
                </a:solidFill>
                <a:latin typeface="Noto Sans CJK KR" pitchFamily="34" charset="0"/>
                <a:ea typeface="Noto Sans CJK KR" pitchFamily="34" charset="-122"/>
                <a:cs typeface="Noto Sans CJK KR" pitchFamily="34" charset="-120"/>
              </a:rPr>
              <a:t>다음 할 일을 적고</a:t>
            </a:r>
            <a:endParaRPr lang="en-US" sz="1800" dirty="0"/>
          </a:p>
          <a:p>
            <a:pPr algn="l" indent="0" marL="0">
              <a:buNone/>
            </a:pPr>
            <a:r>
              <a:rPr lang="en-US" sz="1800" dirty="0">
                <a:solidFill>
                  <a:srgbClr val="151C26"/>
                </a:solidFill>
                <a:latin typeface="Noto Sans CJK KR" pitchFamily="34" charset="0"/>
                <a:ea typeface="Noto Sans CJK KR" pitchFamily="34" charset="-122"/>
                <a:cs typeface="Noto Sans CJK KR" pitchFamily="34" charset="-120"/>
              </a:rPr>
              <a:t>작업을 닫기</a:t>
            </a:r>
            <a:endParaRPr lang="en-US" sz="1800" dirty="0"/>
          </a:p>
        </p:txBody>
      </p:sp>
      <p:sp>
        <p:nvSpPr>
          <p:cNvPr id="18" name="Text 16"/>
          <p:cNvSpPr/>
          <p:nvPr/>
        </p:nvSpPr>
        <p:spPr>
          <a:xfrm>
            <a:off x="2103120" y="5669280"/>
            <a:ext cx="8046720" cy="320040"/>
          </a:xfrm>
          <a:prstGeom prst="rect">
            <a:avLst/>
          </a:prstGeom>
          <a:noFill/>
          <a:ln/>
        </p:spPr>
        <p:txBody>
          <a:bodyPr wrap="square" lIns="0" tIns="0" rIns="0" bIns="0" rtlCol="0" anchor="ctr">
            <a:normAutofit/>
          </a:bodyPr>
          <a:lstStyle/>
          <a:p>
            <a:pPr algn="ctr" indent="0" marL="0">
              <a:buNone/>
            </a:pPr>
            <a:r>
              <a:rPr lang="en-US" sz="1900" b="1" dirty="0">
                <a:solidFill>
                  <a:srgbClr val="235CFF"/>
                </a:solidFill>
                <a:latin typeface="Noto Sans CJK KR" pitchFamily="34" charset="0"/>
                <a:ea typeface="Noto Sans CJK KR" pitchFamily="34" charset="-122"/>
                <a:cs typeface="Noto Sans CJK KR" pitchFamily="34" charset="-120"/>
              </a:rPr>
              <a:t>전환 전 한 줄 메모는 “다시 돌아올 길”을 남기는 작은 장치다.</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0E8"/>
        </a:solidFill>
      </p:bgPr>
    </p:bg>
    <p:spTree>
      <p:nvGrpSpPr>
        <p:cNvPr id="1" name=""/>
        <p:cNvGrpSpPr/>
        <p:nvPr/>
      </p:nvGrpSpPr>
      <p:grpSpPr>
        <a:xfrm>
          <a:off x="0" y="0"/>
          <a:ext cx="0" cy="0"/>
          <a:chOff x="0" y="0"/>
          <a:chExt cx="0" cy="0"/>
        </a:xfrm>
      </p:grpSpPr>
      <p:sp>
        <p:nvSpPr>
          <p:cNvPr id="2" name="Text 0"/>
          <p:cNvSpPr/>
          <p:nvPr/>
        </p:nvSpPr>
        <p:spPr>
          <a:xfrm>
            <a:off x="640080" y="347472"/>
            <a:ext cx="3840480" cy="219456"/>
          </a:xfrm>
          <a:prstGeom prst="rect">
            <a:avLst/>
          </a:prstGeom>
          <a:noFill/>
          <a:ln/>
        </p:spPr>
        <p:txBody>
          <a:bodyPr wrap="square" lIns="0" tIns="0" rIns="0" bIns="0" rtlCol="0" anchor="ctr">
            <a:normAutofit/>
          </a:bodyPr>
          <a:lstStyle/>
          <a:p>
            <a:pPr algn="l" indent="0" marL="0">
              <a:buNone/>
            </a:pPr>
            <a:r>
              <a:rPr lang="en-US" sz="800" b="1" dirty="0">
                <a:solidFill>
                  <a:srgbClr val="235CFF"/>
                </a:solidFill>
                <a:latin typeface="Noto Sans CJK KR" pitchFamily="34" charset="0"/>
                <a:ea typeface="Noto Sans CJK KR" pitchFamily="34" charset="-122"/>
                <a:cs typeface="Noto Sans CJK KR" pitchFamily="34" charset="-120"/>
              </a:rPr>
              <a:t>TAKEAWAY</a:t>
            </a:r>
            <a:endParaRPr lang="en-US" sz="800" dirty="0"/>
          </a:p>
        </p:txBody>
      </p:sp>
      <p:sp>
        <p:nvSpPr>
          <p:cNvPr id="3" name="Text 1"/>
          <p:cNvSpPr/>
          <p:nvPr/>
        </p:nvSpPr>
        <p:spPr>
          <a:xfrm>
            <a:off x="11109960" y="320040"/>
            <a:ext cx="548640" cy="201168"/>
          </a:xfrm>
          <a:prstGeom prst="rect">
            <a:avLst/>
          </a:prstGeom>
          <a:noFill/>
          <a:ln/>
        </p:spPr>
        <p:txBody>
          <a:bodyPr wrap="square" lIns="0" tIns="0" rIns="0" bIns="0" rtlCol="0" anchor="ctr">
            <a:normAutofit/>
          </a:bodyPr>
          <a:lstStyle/>
          <a:p>
            <a:pPr algn="r" indent="0" marL="0">
              <a:buNone/>
            </a:pPr>
            <a:r>
              <a:rPr lang="en-US" sz="800" b="1" dirty="0">
                <a:solidFill>
                  <a:srgbClr val="606A7A"/>
                </a:solidFill>
                <a:latin typeface="Noto Sans CJK KR" pitchFamily="34" charset="0"/>
                <a:ea typeface="Noto Sans CJK KR" pitchFamily="34" charset="-122"/>
                <a:cs typeface="Noto Sans CJK KR" pitchFamily="34" charset="-120"/>
              </a:rPr>
              <a:t>11</a:t>
            </a:r>
            <a:endParaRPr lang="en-US" sz="800" dirty="0"/>
          </a:p>
        </p:txBody>
      </p:sp>
      <p:sp>
        <p:nvSpPr>
          <p:cNvPr id="4" name="Text 2"/>
          <p:cNvSpPr/>
          <p:nvPr/>
        </p:nvSpPr>
        <p:spPr>
          <a:xfrm>
            <a:off x="640080" y="713232"/>
            <a:ext cx="8869680" cy="676656"/>
          </a:xfrm>
          <a:prstGeom prst="rect">
            <a:avLst/>
          </a:prstGeom>
          <a:noFill/>
          <a:ln/>
        </p:spPr>
        <p:txBody>
          <a:bodyPr wrap="square" lIns="0" tIns="0" rIns="0" bIns="0" rtlCol="0" anchor="ctr">
            <a:normAutofit/>
          </a:bodyPr>
          <a:lstStyle/>
          <a:p>
            <a:pPr algn="l" indent="0" marL="0">
              <a:buNone/>
            </a:pPr>
            <a:r>
              <a:rPr lang="en-US" sz="2600" b="1" dirty="0">
                <a:solidFill>
                  <a:srgbClr val="151C26"/>
                </a:solidFill>
                <a:latin typeface="Noto Sans CJK KR" pitchFamily="34" charset="0"/>
                <a:ea typeface="Noto Sans CJK KR" pitchFamily="34" charset="-122"/>
                <a:cs typeface="Noto Sans CJK KR" pitchFamily="34" charset="-120"/>
              </a:rPr>
              <a:t>정리: 알림은 시간을 훔치는 게 아니라 흐름을 끊는다</a:t>
            </a:r>
            <a:endParaRPr lang="en-US" sz="2600" dirty="0"/>
          </a:p>
        </p:txBody>
      </p:sp>
      <p:sp>
        <p:nvSpPr>
          <p:cNvPr id="5" name="Text 3"/>
          <p:cNvSpPr/>
          <p:nvPr/>
        </p:nvSpPr>
        <p:spPr>
          <a:xfrm>
            <a:off x="658368" y="1481328"/>
            <a:ext cx="7315200" cy="329184"/>
          </a:xfrm>
          <a:prstGeom prst="rect">
            <a:avLst/>
          </a:prstGeom>
          <a:noFill/>
          <a:ln/>
        </p:spPr>
        <p:txBody>
          <a:bodyPr wrap="square" lIns="0" tIns="0" rIns="0" bIns="0" rtlCol="0" anchor="ctr">
            <a:normAutofit/>
          </a:bodyPr>
          <a:lstStyle/>
          <a:p>
            <a:pPr algn="l" indent="0" marL="0">
              <a:buNone/>
            </a:pPr>
            <a:r>
              <a:rPr lang="en-US" sz="1250" dirty="0">
                <a:solidFill>
                  <a:srgbClr val="606A7A"/>
                </a:solidFill>
                <a:latin typeface="Noto Sans CJK KR" pitchFamily="34" charset="0"/>
                <a:ea typeface="Noto Sans CJK KR" pitchFamily="34" charset="-122"/>
                <a:cs typeface="Noto Sans CJK KR" pitchFamily="34" charset="-120"/>
              </a:rPr>
              <a:t>우리가 관리해야 할 것은 스마트폰 사용 시간이 아니라, 집중이 끊기는 횟수다.</a:t>
            </a:r>
            <a:endParaRPr lang="en-US" sz="1250" dirty="0"/>
          </a:p>
        </p:txBody>
      </p:sp>
      <p:sp>
        <p:nvSpPr>
          <p:cNvPr id="6" name="Text 4"/>
          <p:cNvSpPr/>
          <p:nvPr/>
        </p:nvSpPr>
        <p:spPr>
          <a:xfrm>
            <a:off x="1097280" y="2057400"/>
            <a:ext cx="320040" cy="228600"/>
          </a:xfrm>
          <a:prstGeom prst="rect">
            <a:avLst/>
          </a:prstGeom>
          <a:noFill/>
          <a:ln/>
        </p:spPr>
        <p:txBody>
          <a:bodyPr wrap="square" lIns="0" tIns="0" rIns="0" bIns="0" rtlCol="0" anchor="ctr">
            <a:normAutofit/>
          </a:bodyPr>
          <a:lstStyle/>
          <a:p>
            <a:pPr algn="l" indent="0" marL="0">
              <a:buNone/>
            </a:pPr>
            <a:r>
              <a:rPr lang="en-US" sz="1500" b="1" dirty="0">
                <a:solidFill>
                  <a:srgbClr val="235CFF"/>
                </a:solidFill>
                <a:latin typeface="Noto Sans CJK KR" pitchFamily="34" charset="0"/>
                <a:ea typeface="Noto Sans CJK KR" pitchFamily="34" charset="-122"/>
                <a:cs typeface="Noto Sans CJK KR" pitchFamily="34" charset="-120"/>
              </a:rPr>
              <a:t>1</a:t>
            </a:r>
            <a:endParaRPr lang="en-US" sz="1500" dirty="0"/>
          </a:p>
        </p:txBody>
      </p:sp>
      <p:sp>
        <p:nvSpPr>
          <p:cNvPr id="7" name="Text 5"/>
          <p:cNvSpPr/>
          <p:nvPr/>
        </p:nvSpPr>
        <p:spPr>
          <a:xfrm>
            <a:off x="1645920" y="2029968"/>
            <a:ext cx="8778240" cy="256032"/>
          </a:xfrm>
          <a:prstGeom prst="rect">
            <a:avLst/>
          </a:prstGeom>
          <a:noFill/>
          <a:ln/>
        </p:spPr>
        <p:txBody>
          <a:bodyPr wrap="square" lIns="0" tIns="0" rIns="0" bIns="0" rtlCol="0" anchor="ctr">
            <a:normAutofit/>
          </a:bodyPr>
          <a:lstStyle/>
          <a:p>
            <a:pPr algn="l" indent="0" marL="0">
              <a:buNone/>
            </a:pPr>
            <a:r>
              <a:rPr lang="en-US" sz="1700" dirty="0">
                <a:solidFill>
                  <a:srgbClr val="151C26"/>
                </a:solidFill>
                <a:latin typeface="Noto Sans CJK KR" pitchFamily="34" charset="0"/>
                <a:ea typeface="Noto Sans CJK KR" pitchFamily="34" charset="-122"/>
                <a:cs typeface="Noto Sans CJK KR" pitchFamily="34" charset="-120"/>
              </a:rPr>
              <a:t>알림은 확인하지 않아도 주의를 끌 수 있다.</a:t>
            </a:r>
            <a:endParaRPr lang="en-US" sz="1700" dirty="0"/>
          </a:p>
        </p:txBody>
      </p:sp>
      <p:sp>
        <p:nvSpPr>
          <p:cNvPr id="8" name="Text 6"/>
          <p:cNvSpPr/>
          <p:nvPr/>
        </p:nvSpPr>
        <p:spPr>
          <a:xfrm>
            <a:off x="1097280" y="2770632"/>
            <a:ext cx="320040" cy="228600"/>
          </a:xfrm>
          <a:prstGeom prst="rect">
            <a:avLst/>
          </a:prstGeom>
          <a:noFill/>
          <a:ln/>
        </p:spPr>
        <p:txBody>
          <a:bodyPr wrap="square" lIns="0" tIns="0" rIns="0" bIns="0" rtlCol="0" anchor="ctr">
            <a:normAutofit/>
          </a:bodyPr>
          <a:lstStyle/>
          <a:p>
            <a:pPr algn="l" indent="0" marL="0">
              <a:buNone/>
            </a:pPr>
            <a:r>
              <a:rPr lang="en-US" sz="1500" b="1" dirty="0">
                <a:solidFill>
                  <a:srgbClr val="235CFF"/>
                </a:solidFill>
                <a:latin typeface="Noto Sans CJK KR" pitchFamily="34" charset="0"/>
                <a:ea typeface="Noto Sans CJK KR" pitchFamily="34" charset="-122"/>
                <a:cs typeface="Noto Sans CJK KR" pitchFamily="34" charset="-120"/>
              </a:rPr>
              <a:t>2</a:t>
            </a:r>
            <a:endParaRPr lang="en-US" sz="1500" dirty="0"/>
          </a:p>
        </p:txBody>
      </p:sp>
      <p:sp>
        <p:nvSpPr>
          <p:cNvPr id="9" name="Text 7"/>
          <p:cNvSpPr/>
          <p:nvPr/>
        </p:nvSpPr>
        <p:spPr>
          <a:xfrm>
            <a:off x="1645920" y="2743200"/>
            <a:ext cx="8778240" cy="256032"/>
          </a:xfrm>
          <a:prstGeom prst="rect">
            <a:avLst/>
          </a:prstGeom>
          <a:noFill/>
          <a:ln/>
        </p:spPr>
        <p:txBody>
          <a:bodyPr wrap="square" lIns="0" tIns="0" rIns="0" bIns="0" rtlCol="0" anchor="ctr">
            <a:normAutofit/>
          </a:bodyPr>
          <a:lstStyle/>
          <a:p>
            <a:pPr algn="l" indent="0" marL="0">
              <a:buNone/>
            </a:pPr>
            <a:r>
              <a:rPr lang="en-US" sz="1700" dirty="0">
                <a:solidFill>
                  <a:srgbClr val="151C26"/>
                </a:solidFill>
                <a:latin typeface="Noto Sans CJK KR" pitchFamily="34" charset="0"/>
                <a:ea typeface="Noto Sans CJK KR" pitchFamily="34" charset="-122"/>
                <a:cs typeface="Noto Sans CJK KR" pitchFamily="34" charset="-120"/>
              </a:rPr>
              <a:t>폰이 가까울수록 일부 인지 자원이 쓰일 수 있다.</a:t>
            </a:r>
            <a:endParaRPr lang="en-US" sz="1700" dirty="0"/>
          </a:p>
        </p:txBody>
      </p:sp>
      <p:sp>
        <p:nvSpPr>
          <p:cNvPr id="10" name="Text 8"/>
          <p:cNvSpPr/>
          <p:nvPr/>
        </p:nvSpPr>
        <p:spPr>
          <a:xfrm>
            <a:off x="1097280" y="3483864"/>
            <a:ext cx="320040" cy="228600"/>
          </a:xfrm>
          <a:prstGeom prst="rect">
            <a:avLst/>
          </a:prstGeom>
          <a:noFill/>
          <a:ln/>
        </p:spPr>
        <p:txBody>
          <a:bodyPr wrap="square" lIns="0" tIns="0" rIns="0" bIns="0" rtlCol="0" anchor="ctr">
            <a:normAutofit/>
          </a:bodyPr>
          <a:lstStyle/>
          <a:p>
            <a:pPr algn="l" indent="0" marL="0">
              <a:buNone/>
            </a:pPr>
            <a:r>
              <a:rPr lang="en-US" sz="1500" b="1" dirty="0">
                <a:solidFill>
                  <a:srgbClr val="235CFF"/>
                </a:solidFill>
                <a:latin typeface="Noto Sans CJK KR" pitchFamily="34" charset="0"/>
                <a:ea typeface="Noto Sans CJK KR" pitchFamily="34" charset="-122"/>
                <a:cs typeface="Noto Sans CJK KR" pitchFamily="34" charset="-120"/>
              </a:rPr>
              <a:t>3</a:t>
            </a:r>
            <a:endParaRPr lang="en-US" sz="1500" dirty="0"/>
          </a:p>
        </p:txBody>
      </p:sp>
      <p:sp>
        <p:nvSpPr>
          <p:cNvPr id="11" name="Text 9"/>
          <p:cNvSpPr/>
          <p:nvPr/>
        </p:nvSpPr>
        <p:spPr>
          <a:xfrm>
            <a:off x="1645920" y="3456432"/>
            <a:ext cx="8778240" cy="256032"/>
          </a:xfrm>
          <a:prstGeom prst="rect">
            <a:avLst/>
          </a:prstGeom>
          <a:noFill/>
          <a:ln/>
        </p:spPr>
        <p:txBody>
          <a:bodyPr wrap="square" lIns="0" tIns="0" rIns="0" bIns="0" rtlCol="0" anchor="ctr">
            <a:normAutofit/>
          </a:bodyPr>
          <a:lstStyle/>
          <a:p>
            <a:pPr algn="l" indent="0" marL="0">
              <a:buNone/>
            </a:pPr>
            <a:r>
              <a:rPr lang="en-US" sz="1700" dirty="0">
                <a:solidFill>
                  <a:srgbClr val="151C26"/>
                </a:solidFill>
                <a:latin typeface="Noto Sans CJK KR" pitchFamily="34" charset="0"/>
                <a:ea typeface="Noto Sans CJK KR" pitchFamily="34" charset="-122"/>
                <a:cs typeface="Noto Sans CJK KR" pitchFamily="34" charset="-120"/>
              </a:rPr>
              <a:t>다시 집중하려면 작업 맥락을 복구해야 한다.</a:t>
            </a:r>
            <a:endParaRPr lang="en-US" sz="1700" dirty="0"/>
          </a:p>
        </p:txBody>
      </p:sp>
      <p:sp>
        <p:nvSpPr>
          <p:cNvPr id="12" name="Text 10"/>
          <p:cNvSpPr/>
          <p:nvPr/>
        </p:nvSpPr>
        <p:spPr>
          <a:xfrm>
            <a:off x="1097280" y="4197096"/>
            <a:ext cx="320040" cy="228600"/>
          </a:xfrm>
          <a:prstGeom prst="rect">
            <a:avLst/>
          </a:prstGeom>
          <a:noFill/>
          <a:ln/>
        </p:spPr>
        <p:txBody>
          <a:bodyPr wrap="square" lIns="0" tIns="0" rIns="0" bIns="0" rtlCol="0" anchor="ctr">
            <a:normAutofit/>
          </a:bodyPr>
          <a:lstStyle/>
          <a:p>
            <a:pPr algn="l" indent="0" marL="0">
              <a:buNone/>
            </a:pPr>
            <a:r>
              <a:rPr lang="en-US" sz="1500" b="1" dirty="0">
                <a:solidFill>
                  <a:srgbClr val="235CFF"/>
                </a:solidFill>
                <a:latin typeface="Noto Sans CJK KR" pitchFamily="34" charset="0"/>
                <a:ea typeface="Noto Sans CJK KR" pitchFamily="34" charset="-122"/>
                <a:cs typeface="Noto Sans CJK KR" pitchFamily="34" charset="-120"/>
              </a:rPr>
              <a:t>4</a:t>
            </a:r>
            <a:endParaRPr lang="en-US" sz="1500" dirty="0"/>
          </a:p>
        </p:txBody>
      </p:sp>
      <p:sp>
        <p:nvSpPr>
          <p:cNvPr id="13" name="Text 11"/>
          <p:cNvSpPr/>
          <p:nvPr/>
        </p:nvSpPr>
        <p:spPr>
          <a:xfrm>
            <a:off x="1645920" y="4169664"/>
            <a:ext cx="8778240" cy="256032"/>
          </a:xfrm>
          <a:prstGeom prst="rect">
            <a:avLst/>
          </a:prstGeom>
          <a:noFill/>
          <a:ln/>
        </p:spPr>
        <p:txBody>
          <a:bodyPr wrap="square" lIns="0" tIns="0" rIns="0" bIns="0" rtlCol="0" anchor="ctr">
            <a:normAutofit/>
          </a:bodyPr>
          <a:lstStyle/>
          <a:p>
            <a:pPr algn="l" indent="0" marL="0">
              <a:buNone/>
            </a:pPr>
            <a:r>
              <a:rPr lang="en-US" sz="1700" dirty="0">
                <a:solidFill>
                  <a:srgbClr val="151C26"/>
                </a:solidFill>
                <a:latin typeface="Noto Sans CJK KR" pitchFamily="34" charset="0"/>
                <a:ea typeface="Noto Sans CJK KR" pitchFamily="34" charset="-122"/>
                <a:cs typeface="Noto Sans CJK KR" pitchFamily="34" charset="-120"/>
              </a:rPr>
              <a:t>그래서 해결은 의지보다 환경 설계에 가깝다.</a:t>
            </a:r>
            <a:endParaRPr lang="en-US" sz="1700" dirty="0"/>
          </a:p>
        </p:txBody>
      </p:sp>
      <p:sp>
        <p:nvSpPr>
          <p:cNvPr id="14" name="Shape 12"/>
          <p:cNvSpPr/>
          <p:nvPr/>
        </p:nvSpPr>
        <p:spPr>
          <a:xfrm>
            <a:off x="1143000" y="5504688"/>
            <a:ext cx="9921240" cy="566928"/>
          </a:xfrm>
          <a:prstGeom prst="roundRect">
            <a:avLst>
              <a:gd name="adj" fmla="val 25806"/>
            </a:avLst>
          </a:prstGeom>
          <a:solidFill>
            <a:srgbClr val="08111F"/>
          </a:solidFill>
          <a:ln w="12700">
            <a:solidFill>
              <a:srgbClr val="08111F">
                <a:alpha val="0"/>
              </a:srgbClr>
            </a:solidFill>
            <a:prstDash val="solid"/>
          </a:ln>
        </p:spPr>
      </p:sp>
      <p:sp>
        <p:nvSpPr>
          <p:cNvPr id="15" name="Text 13"/>
          <p:cNvSpPr/>
          <p:nvPr/>
        </p:nvSpPr>
        <p:spPr>
          <a:xfrm>
            <a:off x="1417320" y="5687568"/>
            <a:ext cx="9372600" cy="20116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Noto Sans CJK KR" pitchFamily="34" charset="0"/>
                <a:ea typeface="Noto Sans CJK KR" pitchFamily="34" charset="-122"/>
                <a:cs typeface="Noto Sans CJK KR" pitchFamily="34" charset="-120"/>
              </a:rPr>
              <a:t>알림을 끄는 것은 정보 차단이 아니라, 더 중요한 생각을 지키는 일이다.</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CF7"/>
        </a:solidFill>
      </p:bgPr>
    </p:bg>
    <p:spTree>
      <p:nvGrpSpPr>
        <p:cNvPr id="1" name=""/>
        <p:cNvGrpSpPr/>
        <p:nvPr/>
      </p:nvGrpSpPr>
      <p:grpSpPr>
        <a:xfrm>
          <a:off x="0" y="0"/>
          <a:ext cx="0" cy="0"/>
          <a:chOff x="0" y="0"/>
          <a:chExt cx="0" cy="0"/>
        </a:xfrm>
      </p:grpSpPr>
      <p:sp>
        <p:nvSpPr>
          <p:cNvPr id="2" name="Text 0"/>
          <p:cNvSpPr/>
          <p:nvPr/>
        </p:nvSpPr>
        <p:spPr>
          <a:xfrm>
            <a:off x="640080" y="347472"/>
            <a:ext cx="3840480" cy="219456"/>
          </a:xfrm>
          <a:prstGeom prst="rect">
            <a:avLst/>
          </a:prstGeom>
          <a:noFill/>
          <a:ln/>
        </p:spPr>
        <p:txBody>
          <a:bodyPr wrap="square" lIns="0" tIns="0" rIns="0" bIns="0" rtlCol="0" anchor="ctr">
            <a:normAutofit/>
          </a:bodyPr>
          <a:lstStyle/>
          <a:p>
            <a:pPr algn="l" indent="0" marL="0">
              <a:buNone/>
            </a:pPr>
            <a:r>
              <a:rPr lang="en-US" sz="800" b="1" dirty="0">
                <a:solidFill>
                  <a:srgbClr val="235CFF"/>
                </a:solidFill>
                <a:latin typeface="Noto Sans CJK KR" pitchFamily="34" charset="0"/>
                <a:ea typeface="Noto Sans CJK KR" pitchFamily="34" charset="-122"/>
                <a:cs typeface="Noto Sans CJK KR" pitchFamily="34" charset="-120"/>
              </a:rPr>
              <a:t>REFERENCES</a:t>
            </a:r>
            <a:endParaRPr lang="en-US" sz="800" dirty="0"/>
          </a:p>
        </p:txBody>
      </p:sp>
      <p:sp>
        <p:nvSpPr>
          <p:cNvPr id="3" name="Text 1"/>
          <p:cNvSpPr/>
          <p:nvPr/>
        </p:nvSpPr>
        <p:spPr>
          <a:xfrm>
            <a:off x="11109960" y="320040"/>
            <a:ext cx="548640" cy="201168"/>
          </a:xfrm>
          <a:prstGeom prst="rect">
            <a:avLst/>
          </a:prstGeom>
          <a:noFill/>
          <a:ln/>
        </p:spPr>
        <p:txBody>
          <a:bodyPr wrap="square" lIns="0" tIns="0" rIns="0" bIns="0" rtlCol="0" anchor="ctr">
            <a:normAutofit/>
          </a:bodyPr>
          <a:lstStyle/>
          <a:p>
            <a:pPr algn="r" indent="0" marL="0">
              <a:buNone/>
            </a:pPr>
            <a:r>
              <a:rPr lang="en-US" sz="800" b="1" dirty="0">
                <a:solidFill>
                  <a:srgbClr val="606A7A"/>
                </a:solidFill>
                <a:latin typeface="Noto Sans CJK KR" pitchFamily="34" charset="0"/>
                <a:ea typeface="Noto Sans CJK KR" pitchFamily="34" charset="-122"/>
                <a:cs typeface="Noto Sans CJK KR" pitchFamily="34" charset="-120"/>
              </a:rPr>
              <a:t>12</a:t>
            </a:r>
            <a:endParaRPr lang="en-US" sz="800" dirty="0"/>
          </a:p>
        </p:txBody>
      </p:sp>
      <p:sp>
        <p:nvSpPr>
          <p:cNvPr id="4" name="Text 2"/>
          <p:cNvSpPr/>
          <p:nvPr/>
        </p:nvSpPr>
        <p:spPr>
          <a:xfrm>
            <a:off x="640080" y="713232"/>
            <a:ext cx="8869680" cy="676656"/>
          </a:xfrm>
          <a:prstGeom prst="rect">
            <a:avLst/>
          </a:prstGeom>
          <a:noFill/>
          <a:ln/>
        </p:spPr>
        <p:txBody>
          <a:bodyPr wrap="square" lIns="0" tIns="0" rIns="0" bIns="0" rtlCol="0" anchor="ctr">
            <a:normAutofit/>
          </a:bodyPr>
          <a:lstStyle/>
          <a:p>
            <a:pPr algn="l" indent="0" marL="0">
              <a:buNone/>
            </a:pPr>
            <a:r>
              <a:rPr lang="en-US" sz="3000" b="1" dirty="0">
                <a:solidFill>
                  <a:srgbClr val="151C26"/>
                </a:solidFill>
                <a:latin typeface="Noto Sans CJK KR" pitchFamily="34" charset="0"/>
                <a:ea typeface="Noto Sans CJK KR" pitchFamily="34" charset="-122"/>
                <a:cs typeface="Noto Sans CJK KR" pitchFamily="34" charset="-120"/>
              </a:rPr>
              <a:t>참고 연구</a:t>
            </a:r>
            <a:endParaRPr lang="en-US" sz="3000" dirty="0"/>
          </a:p>
        </p:txBody>
      </p:sp>
      <p:sp>
        <p:nvSpPr>
          <p:cNvPr id="5" name="Text 3"/>
          <p:cNvSpPr/>
          <p:nvPr/>
        </p:nvSpPr>
        <p:spPr>
          <a:xfrm>
            <a:off x="658368" y="1481328"/>
            <a:ext cx="7315200" cy="329184"/>
          </a:xfrm>
          <a:prstGeom prst="rect">
            <a:avLst/>
          </a:prstGeom>
          <a:noFill/>
          <a:ln/>
        </p:spPr>
        <p:txBody>
          <a:bodyPr wrap="square" lIns="0" tIns="0" rIns="0" bIns="0" rtlCol="0" anchor="ctr">
            <a:normAutofit/>
          </a:bodyPr>
          <a:lstStyle/>
          <a:p>
            <a:pPr algn="l" indent="0" marL="0">
              <a:buNone/>
            </a:pPr>
            <a:r>
              <a:rPr lang="en-US" sz="1250" dirty="0">
                <a:solidFill>
                  <a:srgbClr val="606A7A"/>
                </a:solidFill>
                <a:latin typeface="Noto Sans CJK KR" pitchFamily="34" charset="0"/>
                <a:ea typeface="Noto Sans CJK KR" pitchFamily="34" charset="-122"/>
                <a:cs typeface="Noto Sans CJK KR" pitchFamily="34" charset="-120"/>
              </a:rPr>
              <a:t>발표 안의 핵심 주장을 뒷받침하는 연구들</a:t>
            </a:r>
            <a:endParaRPr lang="en-US" sz="1250" dirty="0"/>
          </a:p>
        </p:txBody>
      </p:sp>
      <p:sp>
        <p:nvSpPr>
          <p:cNvPr id="6" name="Text 4"/>
          <p:cNvSpPr/>
          <p:nvPr/>
        </p:nvSpPr>
        <p:spPr>
          <a:xfrm>
            <a:off x="822960" y="2057400"/>
            <a:ext cx="3520440" cy="192024"/>
          </a:xfrm>
          <a:prstGeom prst="rect">
            <a:avLst/>
          </a:prstGeom>
          <a:noFill/>
          <a:ln/>
        </p:spPr>
        <p:txBody>
          <a:bodyPr wrap="square" lIns="0" tIns="0" rIns="0" bIns="0" rtlCol="0" anchor="ctr">
            <a:normAutofit/>
          </a:bodyPr>
          <a:lstStyle/>
          <a:p>
            <a:pPr algn="l" indent="0" marL="0">
              <a:buNone/>
            </a:pPr>
            <a:r>
              <a:rPr lang="en-US" sz="1050" b="1" dirty="0">
                <a:solidFill>
                  <a:srgbClr val="151C26"/>
                </a:solidFill>
                <a:latin typeface="Noto Sans CJK KR" pitchFamily="34" charset="0"/>
                <a:ea typeface="Noto Sans CJK KR" pitchFamily="34" charset="-122"/>
                <a:cs typeface="Noto Sans CJK KR" pitchFamily="34" charset="-120"/>
              </a:rPr>
              <a:t>Stothart, Mitchum &amp; Yehnert (2015)</a:t>
            </a:r>
            <a:endParaRPr lang="en-US" sz="1050" dirty="0"/>
          </a:p>
        </p:txBody>
      </p:sp>
      <p:sp>
        <p:nvSpPr>
          <p:cNvPr id="7" name="Text 5"/>
          <p:cNvSpPr/>
          <p:nvPr/>
        </p:nvSpPr>
        <p:spPr>
          <a:xfrm>
            <a:off x="4800600" y="2057400"/>
            <a:ext cx="6446520" cy="256032"/>
          </a:xfrm>
          <a:prstGeom prst="rect">
            <a:avLst/>
          </a:prstGeom>
          <a:noFill/>
          <a:ln/>
        </p:spPr>
        <p:txBody>
          <a:bodyPr wrap="square" lIns="0" tIns="0" rIns="0" bIns="0" rtlCol="0" anchor="ctr">
            <a:normAutofit/>
          </a:bodyPr>
          <a:lstStyle/>
          <a:p>
            <a:pPr algn="l" indent="0" marL="0">
              <a:buNone/>
            </a:pPr>
            <a:r>
              <a:rPr lang="en-US" sz="800" dirty="0">
                <a:solidFill>
                  <a:srgbClr val="606A7A"/>
                </a:solidFill>
                <a:latin typeface="Noto Sans CJK KR" pitchFamily="34" charset="0"/>
                <a:ea typeface="Noto Sans CJK KR" pitchFamily="34" charset="-122"/>
                <a:cs typeface="Noto Sans CJK KR" pitchFamily="34" charset="-120"/>
              </a:rPr>
              <a:t>The attentional cost of receiving a cell phone notification. Journal of Experimental Psychology: HPP. DOI: 10.1037/xhp0000100</a:t>
            </a:r>
            <a:endParaRPr lang="en-US" sz="800" dirty="0"/>
          </a:p>
        </p:txBody>
      </p:sp>
      <p:sp>
        <p:nvSpPr>
          <p:cNvPr id="8" name="Shape 6"/>
          <p:cNvSpPr/>
          <p:nvPr/>
        </p:nvSpPr>
        <p:spPr>
          <a:xfrm>
            <a:off x="822960" y="2496312"/>
            <a:ext cx="10515600" cy="0"/>
          </a:xfrm>
          <a:prstGeom prst="line">
            <a:avLst/>
          </a:prstGeom>
          <a:noFill/>
          <a:ln w="6350">
            <a:solidFill>
              <a:srgbClr val="D9D2C8"/>
            </a:solidFill>
            <a:prstDash val="solid"/>
          </a:ln>
        </p:spPr>
      </p:sp>
      <p:sp>
        <p:nvSpPr>
          <p:cNvPr id="9" name="Text 7"/>
          <p:cNvSpPr/>
          <p:nvPr/>
        </p:nvSpPr>
        <p:spPr>
          <a:xfrm>
            <a:off x="822960" y="2743200"/>
            <a:ext cx="3520440" cy="192024"/>
          </a:xfrm>
          <a:prstGeom prst="rect">
            <a:avLst/>
          </a:prstGeom>
          <a:noFill/>
          <a:ln/>
        </p:spPr>
        <p:txBody>
          <a:bodyPr wrap="square" lIns="0" tIns="0" rIns="0" bIns="0" rtlCol="0" anchor="ctr">
            <a:normAutofit/>
          </a:bodyPr>
          <a:lstStyle/>
          <a:p>
            <a:pPr algn="l" indent="0" marL="0">
              <a:buNone/>
            </a:pPr>
            <a:r>
              <a:rPr lang="en-US" sz="1050" b="1" dirty="0">
                <a:solidFill>
                  <a:srgbClr val="151C26"/>
                </a:solidFill>
                <a:latin typeface="Noto Sans CJK KR" pitchFamily="34" charset="0"/>
                <a:ea typeface="Noto Sans CJK KR" pitchFamily="34" charset="-122"/>
                <a:cs typeface="Noto Sans CJK KR" pitchFamily="34" charset="-120"/>
              </a:rPr>
              <a:t>Ward, Duke, Gneezy &amp; Bos (2017)</a:t>
            </a:r>
            <a:endParaRPr lang="en-US" sz="1050" dirty="0"/>
          </a:p>
        </p:txBody>
      </p:sp>
      <p:sp>
        <p:nvSpPr>
          <p:cNvPr id="10" name="Text 8"/>
          <p:cNvSpPr/>
          <p:nvPr/>
        </p:nvSpPr>
        <p:spPr>
          <a:xfrm>
            <a:off x="4800600" y="2743200"/>
            <a:ext cx="6446520" cy="256032"/>
          </a:xfrm>
          <a:prstGeom prst="rect">
            <a:avLst/>
          </a:prstGeom>
          <a:noFill/>
          <a:ln/>
        </p:spPr>
        <p:txBody>
          <a:bodyPr wrap="square" lIns="0" tIns="0" rIns="0" bIns="0" rtlCol="0" anchor="ctr">
            <a:normAutofit/>
          </a:bodyPr>
          <a:lstStyle/>
          <a:p>
            <a:pPr algn="l" indent="0" marL="0">
              <a:buNone/>
            </a:pPr>
            <a:r>
              <a:rPr lang="en-US" sz="800" dirty="0">
                <a:solidFill>
                  <a:srgbClr val="606A7A"/>
                </a:solidFill>
                <a:latin typeface="Noto Sans CJK KR" pitchFamily="34" charset="0"/>
                <a:ea typeface="Noto Sans CJK KR" pitchFamily="34" charset="-122"/>
                <a:cs typeface="Noto Sans CJK KR" pitchFamily="34" charset="-120"/>
              </a:rPr>
              <a:t>Brain Drain: The Mere Presence of One’s Own Smartphone Reduces Available Cognitive Capacity. DOI: 10.1086/691462</a:t>
            </a:r>
            <a:endParaRPr lang="en-US" sz="800" dirty="0"/>
          </a:p>
        </p:txBody>
      </p:sp>
      <p:sp>
        <p:nvSpPr>
          <p:cNvPr id="11" name="Shape 9"/>
          <p:cNvSpPr/>
          <p:nvPr/>
        </p:nvSpPr>
        <p:spPr>
          <a:xfrm>
            <a:off x="822960" y="3182112"/>
            <a:ext cx="10515600" cy="0"/>
          </a:xfrm>
          <a:prstGeom prst="line">
            <a:avLst/>
          </a:prstGeom>
          <a:noFill/>
          <a:ln w="6350">
            <a:solidFill>
              <a:srgbClr val="D9D2C8"/>
            </a:solidFill>
            <a:prstDash val="solid"/>
          </a:ln>
        </p:spPr>
      </p:sp>
      <p:sp>
        <p:nvSpPr>
          <p:cNvPr id="12" name="Text 10"/>
          <p:cNvSpPr/>
          <p:nvPr/>
        </p:nvSpPr>
        <p:spPr>
          <a:xfrm>
            <a:off x="822960" y="3429000"/>
            <a:ext cx="3520440" cy="192024"/>
          </a:xfrm>
          <a:prstGeom prst="rect">
            <a:avLst/>
          </a:prstGeom>
          <a:noFill/>
          <a:ln/>
        </p:spPr>
        <p:txBody>
          <a:bodyPr wrap="square" lIns="0" tIns="0" rIns="0" bIns="0" rtlCol="0" anchor="ctr">
            <a:normAutofit/>
          </a:bodyPr>
          <a:lstStyle/>
          <a:p>
            <a:pPr algn="l" indent="0" marL="0">
              <a:buNone/>
            </a:pPr>
            <a:r>
              <a:rPr lang="en-US" sz="1050" b="1" dirty="0">
                <a:solidFill>
                  <a:srgbClr val="151C26"/>
                </a:solidFill>
                <a:latin typeface="Noto Sans CJK KR" pitchFamily="34" charset="0"/>
                <a:ea typeface="Noto Sans CJK KR" pitchFamily="34" charset="-122"/>
                <a:cs typeface="Noto Sans CJK KR" pitchFamily="34" charset="-120"/>
              </a:rPr>
              <a:t>Leroy (2009)</a:t>
            </a:r>
            <a:endParaRPr lang="en-US" sz="1050" dirty="0"/>
          </a:p>
        </p:txBody>
      </p:sp>
      <p:sp>
        <p:nvSpPr>
          <p:cNvPr id="13" name="Text 11"/>
          <p:cNvSpPr/>
          <p:nvPr/>
        </p:nvSpPr>
        <p:spPr>
          <a:xfrm>
            <a:off x="4800600" y="3429000"/>
            <a:ext cx="6446520" cy="256032"/>
          </a:xfrm>
          <a:prstGeom prst="rect">
            <a:avLst/>
          </a:prstGeom>
          <a:noFill/>
          <a:ln/>
        </p:spPr>
        <p:txBody>
          <a:bodyPr wrap="square" lIns="0" tIns="0" rIns="0" bIns="0" rtlCol="0" anchor="ctr">
            <a:normAutofit/>
          </a:bodyPr>
          <a:lstStyle/>
          <a:p>
            <a:pPr algn="l" indent="0" marL="0">
              <a:buNone/>
            </a:pPr>
            <a:r>
              <a:rPr lang="en-US" sz="800" dirty="0">
                <a:solidFill>
                  <a:srgbClr val="606A7A"/>
                </a:solidFill>
                <a:latin typeface="Noto Sans CJK KR" pitchFamily="34" charset="0"/>
                <a:ea typeface="Noto Sans CJK KR" pitchFamily="34" charset="-122"/>
                <a:cs typeface="Noto Sans CJK KR" pitchFamily="34" charset="-120"/>
              </a:rPr>
              <a:t>Why is it so hard to do my work? The challenge of attention residue when switching between work tasks. DOI: 10.1016/j.obhdp.2009.04.002</a:t>
            </a:r>
            <a:endParaRPr lang="en-US" sz="800" dirty="0"/>
          </a:p>
        </p:txBody>
      </p:sp>
      <p:sp>
        <p:nvSpPr>
          <p:cNvPr id="14" name="Shape 12"/>
          <p:cNvSpPr/>
          <p:nvPr/>
        </p:nvSpPr>
        <p:spPr>
          <a:xfrm>
            <a:off x="822960" y="3867912"/>
            <a:ext cx="10515600" cy="0"/>
          </a:xfrm>
          <a:prstGeom prst="line">
            <a:avLst/>
          </a:prstGeom>
          <a:noFill/>
          <a:ln w="6350">
            <a:solidFill>
              <a:srgbClr val="D9D2C8"/>
            </a:solidFill>
            <a:prstDash val="solid"/>
          </a:ln>
        </p:spPr>
      </p:sp>
      <p:sp>
        <p:nvSpPr>
          <p:cNvPr id="15" name="Text 13"/>
          <p:cNvSpPr/>
          <p:nvPr/>
        </p:nvSpPr>
        <p:spPr>
          <a:xfrm>
            <a:off x="822960" y="4114800"/>
            <a:ext cx="3520440" cy="192024"/>
          </a:xfrm>
          <a:prstGeom prst="rect">
            <a:avLst/>
          </a:prstGeom>
          <a:noFill/>
          <a:ln/>
        </p:spPr>
        <p:txBody>
          <a:bodyPr wrap="square" lIns="0" tIns="0" rIns="0" bIns="0" rtlCol="0" anchor="ctr">
            <a:normAutofit/>
          </a:bodyPr>
          <a:lstStyle/>
          <a:p>
            <a:pPr algn="l" indent="0" marL="0">
              <a:buNone/>
            </a:pPr>
            <a:r>
              <a:rPr lang="en-US" sz="1050" b="1" dirty="0">
                <a:solidFill>
                  <a:srgbClr val="151C26"/>
                </a:solidFill>
                <a:latin typeface="Noto Sans CJK KR" pitchFamily="34" charset="0"/>
                <a:ea typeface="Noto Sans CJK KR" pitchFamily="34" charset="-122"/>
                <a:cs typeface="Noto Sans CJK KR" pitchFamily="34" charset="-120"/>
              </a:rPr>
              <a:t>Mark, Gonzalez &amp; Harris (2005)</a:t>
            </a:r>
            <a:endParaRPr lang="en-US" sz="1050" dirty="0"/>
          </a:p>
        </p:txBody>
      </p:sp>
      <p:sp>
        <p:nvSpPr>
          <p:cNvPr id="16" name="Text 14"/>
          <p:cNvSpPr/>
          <p:nvPr/>
        </p:nvSpPr>
        <p:spPr>
          <a:xfrm>
            <a:off x="4800600" y="4114800"/>
            <a:ext cx="6446520" cy="256032"/>
          </a:xfrm>
          <a:prstGeom prst="rect">
            <a:avLst/>
          </a:prstGeom>
          <a:noFill/>
          <a:ln/>
        </p:spPr>
        <p:txBody>
          <a:bodyPr wrap="square" lIns="0" tIns="0" rIns="0" bIns="0" rtlCol="0" anchor="ctr">
            <a:normAutofit/>
          </a:bodyPr>
          <a:lstStyle/>
          <a:p>
            <a:pPr algn="l" indent="0" marL="0">
              <a:buNone/>
            </a:pPr>
            <a:r>
              <a:rPr lang="en-US" sz="800" dirty="0">
                <a:solidFill>
                  <a:srgbClr val="606A7A"/>
                </a:solidFill>
                <a:latin typeface="Noto Sans CJK KR" pitchFamily="34" charset="0"/>
                <a:ea typeface="Noto Sans CJK KR" pitchFamily="34" charset="-122"/>
                <a:cs typeface="Noto Sans CJK KR" pitchFamily="34" charset="-120"/>
              </a:rPr>
              <a:t>No task left behind? Examining the nature of fragmented work. CHI Extended Abstracts.</a:t>
            </a:r>
            <a:endParaRPr lang="en-US" sz="800" dirty="0"/>
          </a:p>
        </p:txBody>
      </p:sp>
      <p:sp>
        <p:nvSpPr>
          <p:cNvPr id="17" name="Shape 15"/>
          <p:cNvSpPr/>
          <p:nvPr/>
        </p:nvSpPr>
        <p:spPr>
          <a:xfrm>
            <a:off x="822960" y="4553712"/>
            <a:ext cx="10515600" cy="0"/>
          </a:xfrm>
          <a:prstGeom prst="line">
            <a:avLst/>
          </a:prstGeom>
          <a:noFill/>
          <a:ln w="6350">
            <a:solidFill>
              <a:srgbClr val="D9D2C8"/>
            </a:solidFill>
            <a:prstDash val="solid"/>
          </a:ln>
        </p:spPr>
      </p:sp>
      <p:sp>
        <p:nvSpPr>
          <p:cNvPr id="18" name="Text 16"/>
          <p:cNvSpPr/>
          <p:nvPr/>
        </p:nvSpPr>
        <p:spPr>
          <a:xfrm>
            <a:off x="822960" y="4800600"/>
            <a:ext cx="3520440" cy="192024"/>
          </a:xfrm>
          <a:prstGeom prst="rect">
            <a:avLst/>
          </a:prstGeom>
          <a:noFill/>
          <a:ln/>
        </p:spPr>
        <p:txBody>
          <a:bodyPr wrap="square" lIns="0" tIns="0" rIns="0" bIns="0" rtlCol="0" anchor="ctr">
            <a:normAutofit/>
          </a:bodyPr>
          <a:lstStyle/>
          <a:p>
            <a:pPr algn="l" indent="0" marL="0">
              <a:buNone/>
            </a:pPr>
            <a:r>
              <a:rPr lang="en-US" sz="1050" b="1" dirty="0">
                <a:solidFill>
                  <a:srgbClr val="151C26"/>
                </a:solidFill>
                <a:latin typeface="Noto Sans CJK KR" pitchFamily="34" charset="0"/>
                <a:ea typeface="Noto Sans CJK KR" pitchFamily="34" charset="-122"/>
                <a:cs typeface="Noto Sans CJK KR" pitchFamily="34" charset="-120"/>
              </a:rPr>
              <a:t>Peng et al. (CHI 2021)</a:t>
            </a:r>
            <a:endParaRPr lang="en-US" sz="1050" dirty="0"/>
          </a:p>
        </p:txBody>
      </p:sp>
      <p:sp>
        <p:nvSpPr>
          <p:cNvPr id="19" name="Text 17"/>
          <p:cNvSpPr/>
          <p:nvPr/>
        </p:nvSpPr>
        <p:spPr>
          <a:xfrm>
            <a:off x="4800600" y="4800600"/>
            <a:ext cx="6446520" cy="256032"/>
          </a:xfrm>
          <a:prstGeom prst="rect">
            <a:avLst/>
          </a:prstGeom>
          <a:noFill/>
          <a:ln/>
        </p:spPr>
        <p:txBody>
          <a:bodyPr wrap="square" lIns="0" tIns="0" rIns="0" bIns="0" rtlCol="0" anchor="ctr">
            <a:normAutofit/>
          </a:bodyPr>
          <a:lstStyle/>
          <a:p>
            <a:pPr algn="l" indent="0" marL="0">
              <a:buNone/>
            </a:pPr>
            <a:r>
              <a:rPr lang="en-US" sz="800" dirty="0">
                <a:solidFill>
                  <a:srgbClr val="606A7A"/>
                </a:solidFill>
                <a:latin typeface="Noto Sans CJK KR" pitchFamily="34" charset="0"/>
                <a:ea typeface="Noto Sans CJK KR" pitchFamily="34" charset="-122"/>
                <a:cs typeface="Noto Sans CJK KR" pitchFamily="34" charset="-120"/>
              </a:rPr>
              <a:t>Say It All: Feedback for Improving Non-Visual Presentation Accessibility.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Chukchuk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알림 하나를 확인했을 뿐인데, 왜 다시 집중하기 어려울까?</dc:title>
  <dc:subject>Demo deck for Chukchuk Presentation</dc:subject>
  <dc:creator>Chukchuk Presentation Team</dc:creator>
  <cp:lastModifiedBy>Chukchuk Presentation Team</cp:lastModifiedBy>
  <cp:revision>1</cp:revision>
  <dcterms:created xsi:type="dcterms:W3CDTF">2026-07-28T19:49:34Z</dcterms:created>
  <dcterms:modified xsi:type="dcterms:W3CDTF">2026-07-28T19:49:34Z</dcterms:modified>
</cp:coreProperties>
</file>